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59" r:id="rId5"/>
    <p:sldId id="260" r:id="rId6"/>
    <p:sldId id="262" r:id="rId8"/>
    <p:sldId id="263" r:id="rId9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874519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60">
                <a:solidFill>
                  <a:srgbClr val="4DD4C0"/>
                </a:solidFill>
                <a:latin typeface="Consolas"/>
              </a:rPr>
              <a:t>ALPACA AI TRADING AGENTS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286000"/>
            <a:ext cx="10637215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E6EDF3"/>
                </a:solidFill>
                <a:latin typeface="Segoe UI"/>
              </a:rPr>
              <a:t>Vetoed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703320"/>
            <a:ext cx="7863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0">
                <a:solidFill>
                  <a:srgbClr val="A9B6C3"/>
                </a:solidFill>
                <a:latin typeface="Segoe UI"/>
              </a:rPr>
              <a:t>An autonomous options agent where </a:t>
            </a:r>
            <a:r>
              <a:rPr sz="2300" b="1">
                <a:solidFill>
                  <a:srgbClr val="E6EDF3"/>
                </a:solidFill>
                <a:latin typeface="Segoe UI"/>
              </a:rPr>
              <a:t>the AI is the least-trusted component.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29200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5828F"/>
                </a:solidFill>
                <a:latin typeface="Consolas"/>
              </a:rPr>
              <a:t>Alpaca paper trading   ·   chong1120.github.io/Vetoed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20">
                <a:solidFill>
                  <a:srgbClr val="4DD4C0"/>
                </a:solidFill>
                <a:latin typeface="Consolas"/>
              </a:rPr>
              <a:t>THE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78992"/>
            <a:ext cx="1063721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E6EDF3"/>
                </a:solidFill>
                <a:latin typeface="Segoe UI"/>
              </a:rPr>
              <a:t>We sell defined-risk insurance.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A9B6C3"/>
                </a:solidFill>
                <a:latin typeface="Segoe UI"/>
              </a:rPr>
              <a:t>Two legs, always. The one we sell collects a premium; the one we buy </a:t>
            </a:r>
            <a:r>
              <a:rPr sz="1500" b="1">
                <a:solidFill>
                  <a:srgbClr val="E6EDF3"/>
                </a:solidFill>
                <a:latin typeface="Segoe UI"/>
              </a:rPr>
              <a:t>caps the loss before the order is sent</a:t>
            </a:r>
            <a:r>
              <a:rPr sz="1500" b="0">
                <a:solidFill>
                  <a:srgbClr val="A9B6C3"/>
                </a:solidFill>
                <a:latin typeface="Segoe U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834640"/>
            <a:ext cx="5029200" cy="2743200"/>
          </a:xfrm>
          <a:prstGeom prst="roundRect">
            <a:avLst>
              <a:gd name="adj" fmla="val 6000"/>
            </a:avLst>
          </a:prstGeom>
          <a:solidFill>
            <a:srgbClr val="10161E"/>
          </a:solidFill>
          <a:ln w="12700">
            <a:solidFill>
              <a:srgbClr val="21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303580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110">
                <a:solidFill>
                  <a:srgbClr val="3ECF8E"/>
                </a:solidFill>
                <a:latin typeface="Consolas"/>
              </a:rPr>
              <a:t>PUT CREDIT SPREAD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364992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5828F"/>
                </a:solidFill>
                <a:latin typeface="Segoe UI"/>
              </a:rPr>
              <a:t>Profits if the stock does not fall far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4693920"/>
            <a:ext cx="1325880" cy="55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1188720" y="4709160"/>
            <a:ext cx="1325880" cy="0"/>
          </a:xfrm>
          <a:prstGeom prst="line">
            <a:avLst/>
          </a:prstGeom>
          <a:ln w="31750">
            <a:solidFill>
              <a:srgbClr val="3EC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514600" y="3779520"/>
            <a:ext cx="1280160" cy="944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 flipV="1">
            <a:off x="2514600" y="3794760"/>
            <a:ext cx="1280160" cy="914400"/>
          </a:xfrm>
          <a:prstGeom prst="line">
            <a:avLst/>
          </a:prstGeom>
          <a:ln w="31750">
            <a:solidFill>
              <a:srgbClr val="3EC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794760" y="3779520"/>
            <a:ext cx="1600200" cy="55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3794760" y="3794760"/>
            <a:ext cx="1600200" cy="0"/>
          </a:xfrm>
          <a:prstGeom prst="line">
            <a:avLst/>
          </a:prstGeom>
          <a:ln w="31750">
            <a:solidFill>
              <a:srgbClr val="3EC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51560" y="50292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9B6C3"/>
                </a:solidFill>
                <a:latin typeface="Segoe UI"/>
              </a:rPr>
              <a:t>SELL the 310 put   ·   BUY the 305 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834640"/>
            <a:ext cx="5029200" cy="2743200"/>
          </a:xfrm>
          <a:prstGeom prst="roundRect">
            <a:avLst>
              <a:gd name="adj" fmla="val 6000"/>
            </a:avLst>
          </a:prstGeom>
          <a:solidFill>
            <a:srgbClr val="10161E"/>
          </a:solidFill>
          <a:ln w="12700">
            <a:solidFill>
              <a:srgbClr val="21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03580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110">
                <a:solidFill>
                  <a:srgbClr val="F2685C"/>
                </a:solidFill>
                <a:latin typeface="Consolas"/>
              </a:rPr>
              <a:t>CALL CREDIT SPREAD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364992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5828F"/>
                </a:solidFill>
                <a:latin typeface="Segoe UI"/>
              </a:rPr>
              <a:t>Profits if the stock does not rise far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3779520"/>
            <a:ext cx="1325880" cy="55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6583680" y="3794760"/>
            <a:ext cx="1325880" cy="0"/>
          </a:xfrm>
          <a:prstGeom prst="line">
            <a:avLst/>
          </a:prstGeom>
          <a:ln w="31750">
            <a:solidFill>
              <a:srgbClr val="F26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909560" y="3779520"/>
            <a:ext cx="1280160" cy="944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7909560" y="3794760"/>
            <a:ext cx="1280160" cy="914400"/>
          </a:xfrm>
          <a:prstGeom prst="line">
            <a:avLst/>
          </a:prstGeom>
          <a:ln w="31750">
            <a:solidFill>
              <a:srgbClr val="F26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189720" y="4693920"/>
            <a:ext cx="1600200" cy="55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Connector 22"/>
          <p:cNvCxnSpPr/>
          <p:nvPr/>
        </p:nvCxnSpPr>
        <p:spPr>
          <a:xfrm>
            <a:off x="9189720" y="4709160"/>
            <a:ext cx="1600200" cy="0"/>
          </a:xfrm>
          <a:prstGeom prst="line">
            <a:avLst/>
          </a:prstGeom>
          <a:ln w="31750">
            <a:solidFill>
              <a:srgbClr val="F26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46520" y="50292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9B6C3"/>
                </a:solidFill>
                <a:latin typeface="Segoe UI"/>
              </a:rPr>
              <a:t>SELL the 300 call   ·   BUY the 305 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50">
                <a:solidFill>
                  <a:srgbClr val="75828F"/>
                </a:solidFill>
                <a:latin typeface="Consolas"/>
              </a:rPr>
              <a:t>VETOED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spc="120">
                <a:solidFill>
                  <a:srgbClr val="75828F"/>
                </a:solidFill>
                <a:latin typeface="Consolas"/>
              </a:rPr>
              <a:t>02 / 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07708"/>
            <a:ext cx="3047923" cy="50292"/>
          </a:xfrm>
          <a:prstGeom prst="rect">
            <a:avLst/>
          </a:prstGeom>
          <a:solidFill>
            <a:srgbClr val="4DD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20">
                <a:solidFill>
                  <a:srgbClr val="4DD4C0"/>
                </a:solidFill>
                <a:latin typeface="Consolas"/>
              </a:rPr>
              <a:t>WHY VOLATILITY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78992"/>
            <a:ext cx="1063721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E6EDF3"/>
                </a:solidFill>
                <a:latin typeface="Segoe UI"/>
              </a:rPr>
              <a:t>Two numbers. When they disagree,
the seller is being paid.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594360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Aft>
                <a:spcPts val="1100"/>
              </a:spcAft>
            </a:pPr>
            <a:r>
              <a:rPr sz="1500" b="1">
                <a:solidFill>
                  <a:srgbClr val="4DD4C0"/>
                </a:solidFill>
                <a:latin typeface="Segoe UI"/>
              </a:rPr>
              <a:t>Implied volatility</a:t>
            </a:r>
            <a:r>
              <a:rPr sz="1500" b="0">
                <a:solidFill>
                  <a:srgbClr val="A9B6C3"/>
                </a:solidFill>
                <a:latin typeface="Segoe UI"/>
              </a:rPr>
              <a:t> — how much movement option prices are charging for.</a:t>
            </a:r>
          </a:p>
          <a:p>
            <a:pPr>
              <a:lnSpc>
                <a:spcPct val="135000"/>
              </a:lnSpc>
              <a:spcAft>
                <a:spcPts val="1100"/>
              </a:spcAft>
            </a:pPr>
            <a:r>
              <a:rPr sz="1500" b="1">
                <a:solidFill>
                  <a:srgbClr val="3ECF8E"/>
                </a:solidFill>
                <a:latin typeface="Segoe UI"/>
              </a:rPr>
              <a:t>Realised volatility</a:t>
            </a:r>
            <a:r>
              <a:rPr sz="1500" b="0">
                <a:solidFill>
                  <a:srgbClr val="A9B6C3"/>
                </a:solidFill>
                <a:latin typeface="Segoe UI"/>
              </a:rPr>
              <a:t> — how much the stock actually moved recently.</a:t>
            </a:r>
          </a:p>
          <a:p>
            <a:pPr>
              <a:lnSpc>
                <a:spcPct val="135000"/>
              </a:lnSpc>
              <a:spcAft>
                <a:spcPts val="1100"/>
              </a:spcAft>
            </a:pPr>
            <a:r>
              <a:rPr sz="1500" b="0">
                <a:solidFill>
                  <a:srgbClr val="A9B6C3"/>
                </a:solidFill>
                <a:latin typeface="Segoe UI"/>
              </a:rPr>
              <a:t>When implied sits above realised, options are priced for more movement than has been happening. </a:t>
            </a:r>
            <a:r>
              <a:rPr sz="1500" b="1">
                <a:solidFill>
                  <a:srgbClr val="E6EDF3"/>
                </a:solidFill>
                <a:latin typeface="Segoe UI"/>
              </a:rPr>
              <a:t>That gap is what a premium seller is trying to collect.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69480" y="2514600"/>
            <a:ext cx="4114800" cy="2788920"/>
          </a:xfrm>
          <a:prstGeom prst="roundRect">
            <a:avLst>
              <a:gd name="adj" fmla="val 6000"/>
            </a:avLst>
          </a:prstGeom>
          <a:solidFill>
            <a:srgbClr val="10161E"/>
          </a:solidFill>
          <a:ln w="12700">
            <a:solidFill>
              <a:srgbClr val="21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2088" y="27432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30">
                <a:solidFill>
                  <a:srgbClr val="75828F"/>
                </a:solidFill>
                <a:latin typeface="Consolas"/>
              </a:rPr>
              <a:t>AAPL, ONE LIVE 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62088" y="315468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5828F"/>
                </a:solidFill>
                <a:latin typeface="Consolas"/>
              </a:rPr>
              <a:t>implied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562088" y="3410712"/>
            <a:ext cx="2606040" cy="201168"/>
          </a:xfrm>
          <a:prstGeom prst="rect">
            <a:avLst/>
          </a:prstGeom>
          <a:solidFill>
            <a:srgbClr val="4DD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87000" y="3300984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DD4C0"/>
                </a:solidFill>
                <a:latin typeface="Consolas"/>
              </a:rPr>
              <a:t>23.8%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2088" y="3867912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5828F"/>
                </a:solidFill>
                <a:latin typeface="Consolas"/>
              </a:rPr>
              <a:t>realised, 20 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62088" y="4123944"/>
            <a:ext cx="2066543" cy="201168"/>
          </a:xfrm>
          <a:prstGeom prst="rect">
            <a:avLst/>
          </a:prstGeom>
          <a:solidFill>
            <a:srgbClr val="3E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87000" y="4014216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ECF8E"/>
                </a:solidFill>
                <a:latin typeface="Consolas"/>
              </a:rPr>
              <a:t>18.9%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2088" y="47091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5828F"/>
                </a:solidFill>
                <a:latin typeface="Consolas"/>
              </a:rPr>
              <a:t>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52628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4DD4C0"/>
                </a:solidFill>
                <a:latin typeface="Consolas"/>
              </a:rPr>
              <a:t>1.26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50">
                <a:solidFill>
                  <a:srgbClr val="75828F"/>
                </a:solidFill>
                <a:latin typeface="Consolas"/>
              </a:rPr>
              <a:t>VETOED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spc="120">
                <a:solidFill>
                  <a:srgbClr val="75828F"/>
                </a:solidFill>
                <a:latin typeface="Consolas"/>
              </a:rPr>
              <a:t>03 / 07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07708"/>
            <a:ext cx="4063898" cy="50292"/>
          </a:xfrm>
          <a:prstGeom prst="rect">
            <a:avLst/>
          </a:prstGeom>
          <a:solidFill>
            <a:srgbClr val="4DD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20">
                <a:solidFill>
                  <a:srgbClr val="4DD4C0"/>
                </a:solidFill>
                <a:latin typeface="Consolas"/>
              </a:rPr>
              <a:t>THE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78992"/>
            <a:ext cx="1063721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E6EDF3"/>
                </a:solidFill>
                <a:latin typeface="Segoe UI"/>
              </a:rPr>
              <a:t>One model. Two volatility inputs.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9B6C3"/>
                </a:solidFill>
                <a:latin typeface="Segoe UI"/>
              </a:rPr>
              <a:t>Same spread, same payoff, same probability model. </a:t>
            </a:r>
            <a:r>
              <a:rPr sz="1500" b="1">
                <a:solidFill>
                  <a:srgbClr val="E6EDF3"/>
                </a:solidFill>
                <a:latin typeface="Segoe UI"/>
              </a:rPr>
              <a:t>Only the volatility changes.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4320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10161E"/>
          </a:solidFill>
          <a:ln w="12700">
            <a:solidFill>
              <a:srgbClr val="21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696" y="2962656"/>
            <a:ext cx="45902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75828F"/>
                </a:solidFill>
                <a:latin typeface="Consolas"/>
              </a:rPr>
              <a:t>PRICED AT REALISED VOL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" y="3236976"/>
            <a:ext cx="459028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dirty="0">
                <a:solidFill>
                  <a:srgbClr val="3ECF8E"/>
                </a:solidFill>
                <a:latin typeface="Consolas"/>
              </a:rPr>
              <a:t>+$28.59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3712464"/>
            <a:ext cx="45902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dirty="0">
                <a:solidFill>
                  <a:srgbClr val="75828F"/>
                </a:solidFill>
                <a:latin typeface="Segoe UI"/>
              </a:rPr>
              <a:t>what it is worth if volatility keeps behaving like it has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74320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10161E"/>
          </a:solidFill>
          <a:ln w="12700">
            <a:solidFill>
              <a:srgbClr val="21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91656" y="2962656"/>
            <a:ext cx="45902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75828F"/>
                </a:solidFill>
                <a:latin typeface="Consolas"/>
              </a:rPr>
              <a:t>PRICED AT IMPLIED VOL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656" y="3236976"/>
            <a:ext cx="459028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2685C"/>
                </a:solidFill>
                <a:latin typeface="Consolas"/>
              </a:rPr>
              <a:t>−$13.85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656" y="3694176"/>
            <a:ext cx="45902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75828F"/>
                </a:solidFill>
                <a:latin typeface="Segoe UI"/>
              </a:rPr>
              <a:t>roughly what the market is charging for it today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315968"/>
            <a:ext cx="10424160" cy="1051560"/>
          </a:xfrm>
          <a:prstGeom prst="roundRect">
            <a:avLst>
              <a:gd name="adj" fmla="val 6000"/>
            </a:avLst>
          </a:prstGeom>
          <a:solidFill>
            <a:srgbClr val="123832"/>
          </a:solidFill>
          <a:ln w="12700">
            <a:solidFill>
              <a:srgbClr val="4DD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44805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30">
                <a:solidFill>
                  <a:srgbClr val="4DD4C0"/>
                </a:solidFill>
                <a:latin typeface="Consolas"/>
              </a:rPr>
              <a:t>VETOED'S MODEL-DERIVED EDGE — THE DIFFERENCE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77316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4DD4C0"/>
                </a:solidFill>
                <a:latin typeface="Consolas"/>
              </a:rPr>
              <a:t>+$42.45</a:t>
            </a:r>
            <a:r>
              <a:rPr sz="1300" b="0">
                <a:solidFill>
                  <a:srgbClr val="A9B6C3"/>
                </a:solidFill>
                <a:latin typeface="Segoe UI"/>
              </a:rPr>
              <a:t>   per spread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32120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75828F"/>
                </a:solidFill>
                <a:latin typeface="Segoe UI"/>
              </a:rPr>
              <a:t>This is </a:t>
            </a:r>
            <a:r>
              <a:rPr sz="1150" b="1">
                <a:solidFill>
                  <a:srgbClr val="E6EDF3"/>
                </a:solidFill>
                <a:latin typeface="Segoe UI"/>
              </a:rPr>
              <a:t>our own operational signal</a:t>
            </a:r>
            <a:r>
              <a:rPr sz="1150" b="0">
                <a:solidFill>
                  <a:srgbClr val="75828F"/>
                </a:solidFill>
                <a:latin typeface="Segoe UI"/>
              </a:rPr>
              <a:t>, motivated by volatility-risk-premium research — not the canonical academic VRP, which is defined on variance swap rates over a matched horizon.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50">
                <a:solidFill>
                  <a:srgbClr val="75828F"/>
                </a:solidFill>
                <a:latin typeface="Consolas"/>
              </a:rPr>
              <a:t>VETOED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spc="120">
                <a:solidFill>
                  <a:srgbClr val="75828F"/>
                </a:solidFill>
                <a:latin typeface="Consolas"/>
              </a:rPr>
              <a:t>04 / 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7708"/>
            <a:ext cx="5079872" cy="50292"/>
          </a:xfrm>
          <a:prstGeom prst="rect">
            <a:avLst/>
          </a:prstGeom>
          <a:solidFill>
            <a:srgbClr val="4DD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20">
                <a:solidFill>
                  <a:srgbClr val="4DD4C0"/>
                </a:solidFill>
                <a:latin typeface="Consolas"/>
              </a:rPr>
              <a:t>SEPARATION OF POWERS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78992"/>
            <a:ext cx="1063721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E6EDF3"/>
                </a:solidFill>
                <a:latin typeface="Segoe UI"/>
              </a:rPr>
              <a:t>The model proposes.
Deterministic code disposes.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606040"/>
            <a:ext cx="2395728" cy="1298448"/>
          </a:xfrm>
          <a:prstGeom prst="roundRect">
            <a:avLst>
              <a:gd name="adj" fmla="val 6000"/>
            </a:avLst>
          </a:prstGeom>
          <a:solidFill>
            <a:srgbClr val="10161E"/>
          </a:solidFill>
          <a:ln w="12700">
            <a:solidFill>
              <a:srgbClr val="21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6EDF3"/>
                </a:solidFill>
                <a:latin typeface="Consolas"/>
              </a:rPr>
              <a:t>SCREENER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2724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3ECF8E"/>
                </a:solidFill>
                <a:latin typeface="Segoe UI"/>
              </a:rPr>
              <a:t>builds valid spreads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0156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F2685C"/>
                </a:solidFill>
                <a:latin typeface="Segoe UI"/>
              </a:rPr>
              <a:t>no judgement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2968" y="3108960"/>
            <a:ext cx="2834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75828F"/>
                </a:solidFill>
                <a:latin typeface="Consola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2606040"/>
            <a:ext cx="2395728" cy="1298448"/>
          </a:xfrm>
          <a:prstGeom prst="roundRect">
            <a:avLst>
              <a:gd name="adj" fmla="val 6000"/>
            </a:avLst>
          </a:prstGeom>
          <a:solidFill>
            <a:srgbClr val="241B0C"/>
          </a:solidFill>
          <a:ln w="12700">
            <a:solidFill>
              <a:srgbClr val="F0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56432" y="2788920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0A93B"/>
                </a:solidFill>
                <a:latin typeface="Consolas"/>
              </a:rP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312724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3ECF8E"/>
                </a:solidFill>
                <a:latin typeface="Segoe UI"/>
              </a:rPr>
              <a:t>picks one, or none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340156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F2685C"/>
                </a:solidFill>
                <a:latin typeface="Segoe UI"/>
              </a:rPr>
              <a:t>cannot invent or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108960"/>
            <a:ext cx="2834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75828F"/>
                </a:solidFill>
                <a:latin typeface="Consola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35624" y="2606040"/>
            <a:ext cx="2395728" cy="1298448"/>
          </a:xfrm>
          <a:prstGeom prst="roundRect">
            <a:avLst>
              <a:gd name="adj" fmla="val 6000"/>
            </a:avLst>
          </a:prstGeom>
          <a:solidFill>
            <a:srgbClr val="10161E"/>
          </a:solidFill>
          <a:ln w="12700">
            <a:solidFill>
              <a:srgbClr val="21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35624" y="2788920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6EDF3"/>
                </a:solidFill>
                <a:latin typeface="Consolas"/>
              </a:rPr>
              <a:t>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312724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3ECF8E"/>
                </a:solidFill>
                <a:latin typeface="Segoe UI"/>
              </a:rPr>
              <a:t>sizes, and can veto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340156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F2685C"/>
                </a:solidFill>
                <a:latin typeface="Segoe UI"/>
              </a:rPr>
              <a:t>cannot be overruled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3108960"/>
            <a:ext cx="2834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75828F"/>
                </a:solidFill>
                <a:latin typeface="Consola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14816" y="2606040"/>
            <a:ext cx="2395728" cy="1298448"/>
          </a:xfrm>
          <a:prstGeom prst="roundRect">
            <a:avLst>
              <a:gd name="adj" fmla="val 6000"/>
            </a:avLst>
          </a:prstGeom>
          <a:solidFill>
            <a:srgbClr val="10161E"/>
          </a:solidFill>
          <a:ln w="12700">
            <a:solidFill>
              <a:srgbClr val="21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14816" y="2788920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6EDF3"/>
                </a:solidFill>
                <a:latin typeface="Consolas"/>
              </a:rPr>
              <a:t>ALPACA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1976" y="312724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3ECF8E"/>
                </a:solidFill>
                <a:latin typeface="Segoe UI"/>
              </a:rPr>
              <a:t>one atomic order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340156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F2685C"/>
                </a:solidFill>
                <a:latin typeface="Segoe UI"/>
              </a:rPr>
              <a:t>never legs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343400"/>
            <a:ext cx="6949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9B6C3"/>
                </a:solidFill>
                <a:latin typeface="Segoe UI"/>
              </a:rPr>
              <a:t>Echoed contracts are checked against the shortlist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434340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10">
                <a:solidFill>
                  <a:srgbClr val="F2685C"/>
                </a:solidFill>
                <a:latin typeface="Consolas"/>
              </a:rPr>
              <a:t>HALLUCINATION → NO TRADE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690872"/>
            <a:ext cx="10637215" cy="9525"/>
          </a:xfrm>
          <a:prstGeom prst="rect">
            <a:avLst/>
          </a:prstGeom>
          <a:solidFill>
            <a:srgbClr val="21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855464"/>
            <a:ext cx="6949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9B6C3"/>
                </a:solidFill>
                <a:latin typeface="Segoe UI"/>
              </a:rPr>
              <a:t>The model's requested size is discarded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4855464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10">
                <a:solidFill>
                  <a:srgbClr val="F2685C"/>
                </a:solidFill>
                <a:latin typeface="Consolas"/>
              </a:rPr>
              <a:t>CANNOT SIZE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202936"/>
            <a:ext cx="10637215" cy="9525"/>
          </a:xfrm>
          <a:prstGeom prst="rect">
            <a:avLst/>
          </a:prstGeom>
          <a:solidFill>
            <a:srgbClr val="21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5367528"/>
            <a:ext cx="6949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9B6C3"/>
                </a:solidFill>
                <a:latin typeface="Segoe UI"/>
              </a:rPr>
              <a:t>No broker or tool output ever enters the prompt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5367528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10">
                <a:solidFill>
                  <a:srgbClr val="F2685C"/>
                </a:solidFill>
                <a:latin typeface="Consolas"/>
              </a:rPr>
              <a:t>CONTROLLED VOCABULARY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715000"/>
            <a:ext cx="10637215" cy="9525"/>
          </a:xfrm>
          <a:prstGeom prst="rect">
            <a:avLst/>
          </a:prstGeom>
          <a:solidFill>
            <a:srgbClr val="21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5879592"/>
            <a:ext cx="6949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9B6C3"/>
                </a:solidFill>
                <a:latin typeface="Segoe UI"/>
              </a:rPr>
              <a:t>No model available? Arithmetic selection runs instead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587959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10">
                <a:solidFill>
                  <a:srgbClr val="3ECF8E"/>
                </a:solidFill>
                <a:latin typeface="Consolas"/>
              </a:rPr>
              <a:t>STILL AUTONOMOUS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6227064"/>
            <a:ext cx="10637215" cy="9525"/>
          </a:xfrm>
          <a:prstGeom prst="rect">
            <a:avLst/>
          </a:prstGeom>
          <a:solidFill>
            <a:srgbClr val="21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50">
                <a:solidFill>
                  <a:srgbClr val="75828F"/>
                </a:solidFill>
                <a:latin typeface="Consolas"/>
              </a:rPr>
              <a:t>VETOED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spc="120">
                <a:solidFill>
                  <a:srgbClr val="75828F"/>
                </a:solidFill>
                <a:latin typeface="Consolas"/>
              </a:rPr>
              <a:t>05 / 07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807708"/>
            <a:ext cx="7111822" cy="50292"/>
          </a:xfrm>
          <a:prstGeom prst="rect">
            <a:avLst/>
          </a:prstGeom>
          <a:solidFill>
            <a:srgbClr val="4DD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20">
                <a:solidFill>
                  <a:srgbClr val="4DD4C0"/>
                </a:solidFill>
                <a:latin typeface="Consolas"/>
              </a:rPr>
              <a:t>RISK IS NOT ADVISORY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78992"/>
            <a:ext cx="1063721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E6EDF3"/>
                </a:solidFill>
                <a:latin typeface="Segoe UI"/>
              </a:rPr>
              <a:t>Eight gates. Any one of them
rejects the trade outright.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9748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E6EDF3"/>
                </a:solidFill>
                <a:latin typeface="Consolas"/>
              </a:rPr>
              <a:t>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410712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A9B6C3"/>
                </a:solidFill>
                <a:latin typeface="Segoe UI"/>
              </a:rPr>
              <a:t>of equity at risk
in any one spread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69748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2685C"/>
                </a:solidFill>
                <a:latin typeface="Consolas"/>
              </a:rPr>
              <a:t>−3%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410712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A9B6C3"/>
                </a:solidFill>
                <a:latin typeface="Segoe UI"/>
              </a:rPr>
              <a:t>on the day halts
the whole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269748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E6EDF3"/>
                </a:solidFill>
                <a:latin typeface="Consolas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3410712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A9B6C3"/>
                </a:solidFill>
                <a:latin typeface="Segoe UI"/>
              </a:rPr>
              <a:t>contracts, hard cap
whatever the maths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9768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ECF8E"/>
                </a:solidFill>
                <a:latin typeface="Consola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10912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A9B6C3"/>
                </a:solidFill>
                <a:latin typeface="Segoe UI"/>
              </a:rPr>
              <a:t>naked positions,
structurally impossible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29768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E6EDF3"/>
                </a:solidFill>
                <a:latin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5010912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A9B6C3"/>
                </a:solidFill>
                <a:latin typeface="Segoe UI"/>
              </a:rPr>
              <a:t>legs, one atomic order —
both fill or neither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429768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4DD4C0"/>
                </a:solidFill>
                <a:latin typeface="Consolas"/>
              </a:rPr>
              <a:t>236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5010912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A9B6C3"/>
                </a:solidFill>
                <a:latin typeface="Segoe UI"/>
              </a:rPr>
              <a:t>tests, most of them
on the gates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2910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50">
                <a:solidFill>
                  <a:srgbClr val="75828F"/>
                </a:solidFill>
                <a:latin typeface="Consolas"/>
              </a:rPr>
              <a:t>VETOED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71255" y="62910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spc="120">
                <a:solidFill>
                  <a:srgbClr val="75828F"/>
                </a:solidFill>
                <a:latin typeface="Consolas"/>
              </a:rPr>
              <a:t>06 / 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7708"/>
            <a:ext cx="8127796" cy="50292"/>
          </a:xfrm>
          <a:prstGeom prst="rect">
            <a:avLst/>
          </a:prstGeom>
          <a:solidFill>
            <a:srgbClr val="4DD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5836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220">
                <a:solidFill>
                  <a:srgbClr val="4DD4C0"/>
                </a:solidFill>
                <a:latin typeface="Consolas"/>
              </a:rPr>
              <a:t>WHAT I AM NOT CLAIMING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78992"/>
            <a:ext cx="1063721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400" b="1">
                <a:solidFill>
                  <a:srgbClr val="E6EDF3"/>
                </a:solidFill>
                <a:latin typeface="Segoe UI"/>
              </a:rPr>
              <a:t>The limits, stated before you find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DD4C0"/>
                </a:solidFill>
                <a:latin typeface="Segoe UI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" y="260604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E6EDF3"/>
                </a:solidFill>
                <a:latin typeface="Segoe UI"/>
              </a:rPr>
              <a:t>Quotes are indicative</a:t>
            </a:r>
            <a:r>
              <a:rPr sz="1300" b="0">
                <a:solidFill>
                  <a:srgbClr val="A9B6C3"/>
                </a:solidFill>
                <a:latin typeface="Segoe UI"/>
              </a:rPr>
              <a:t>, not true NBBO.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56616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DD4C0"/>
                </a:solidFill>
                <a:latin typeface="Segoe UI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" y="356616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E6EDF3"/>
                </a:solidFill>
                <a:latin typeface="Segoe UI"/>
              </a:rPr>
              <a:t>Skew isn't modelled</a:t>
            </a:r>
            <a:r>
              <a:rPr sz="1300" b="0">
                <a:solidFill>
                  <a:srgbClr val="A9B6C3"/>
                </a:solidFill>
                <a:latin typeface="Segoe UI"/>
              </a:rPr>
              <a:t> — both legs use one volatility.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2628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DD4C0"/>
                </a:solidFill>
                <a:latin typeface="Segoe U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" y="452628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E6EDF3"/>
                </a:solidFill>
                <a:latin typeface="Segoe UI"/>
              </a:rPr>
              <a:t>20-day realised vol is an estimator</a:t>
            </a:r>
            <a:r>
              <a:rPr sz="1300" b="0">
                <a:solidFill>
                  <a:srgbClr val="A9B6C3"/>
                </a:solidFill>
                <a:latin typeface="Segoe UI"/>
              </a:rPr>
              <a:t>, not a forecast of volatility to expiry.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60604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DD4C0"/>
                </a:solidFill>
                <a:latin typeface="Segoe U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9944" y="260604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E6EDF3"/>
                </a:solidFill>
                <a:latin typeface="Segoe UI"/>
              </a:rPr>
              <a:t>Four correlated tickers</a:t>
            </a:r>
            <a:r>
              <a:rPr sz="1300" b="0">
                <a:solidFill>
                  <a:srgbClr val="A9B6C3"/>
                </a:solidFill>
                <a:latin typeface="Segoe UI"/>
              </a:rPr>
              <a:t> is not diversification.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356616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DD4C0"/>
                </a:solidFill>
                <a:latin typeface="Segoe U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356616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E6EDF3"/>
                </a:solidFill>
                <a:latin typeface="Segoe UI"/>
              </a:rPr>
              <a:t>Exit thresholds are unvalidated</a:t>
            </a:r>
            <a:r>
              <a:rPr sz="1300" b="0">
                <a:solidFill>
                  <a:srgbClr val="A9B6C3"/>
                </a:solidFill>
                <a:latin typeface="Segoe U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526280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DD4C0"/>
                </a:solidFill>
                <a:latin typeface="Segoe U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452628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E6EDF3"/>
                </a:solidFill>
                <a:latin typeface="Segoe UI"/>
              </a:rPr>
              <a:t>A contest week proves nothing</a:t>
            </a:r>
            <a:r>
              <a:rPr sz="1300" b="0">
                <a:solidFill>
                  <a:srgbClr val="A9B6C3"/>
                </a:solidFill>
                <a:latin typeface="Segoe UI"/>
              </a:rPr>
              <a:t> about profitability. The literature motivates the idea; it does not validate this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23560"/>
            <a:ext cx="106372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4DD4C0"/>
                </a:solidFill>
                <a:latin typeface="Segoe UI"/>
              </a:rPr>
              <a:t>An agent that's most useful when it says no.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1052</Words>
  <Application>Microsoft Office PowerPoint</Application>
  <PresentationFormat>Widescreen</PresentationFormat>
  <Paragraphs>186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CHONG MUN HEI</cp:lastModifiedBy>
  <cp:revision>2</cp:revision>
  <dcterms:created xsi:type="dcterms:W3CDTF">2013-01-27T09:14:16Z</dcterms:created>
  <dcterms:modified xsi:type="dcterms:W3CDTF">2026-08-31T13:02:47Z</dcterms:modified>
  <cp:category/>
</cp:coreProperties>
</file>