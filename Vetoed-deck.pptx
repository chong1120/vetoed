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6596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60">
                <a:solidFill>
                  <a:srgbClr val="4DD4C0"/>
                </a:solidFill>
                <a:latin typeface="Consolas"/>
              </a:rPr>
              <a:t>ALPACA AI TRADING AGENTS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95728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E6EDF3"/>
                </a:solidFill>
                <a:latin typeface="Segoe UI"/>
              </a:rPr>
              <a:t>Vetoed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1188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A9B6C3"/>
                </a:solidFill>
                <a:latin typeface="Segoe UI"/>
              </a:rPr>
              <a:t>An autonomous options agent where </a:t>
            </a:r>
            <a:r>
              <a:rPr sz="2200" b="1">
                <a:solidFill>
                  <a:srgbClr val="E6EDF3"/>
                </a:solidFill>
                <a:latin typeface="Segoe UI"/>
              </a:rPr>
              <a:t>the AI is the least-trusted component.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5828F"/>
                </a:solidFill>
                <a:latin typeface="Consolas"/>
              </a:rPr>
              <a:t>chong1120.github.io/Vetoed   ·   github.com/Chong1120/Vetoed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Most AI trading agents let the model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600" b="0">
                <a:solidFill>
                  <a:srgbClr val="A9B6C3"/>
                </a:solidFill>
                <a:latin typeface="Segoe UI"/>
              </a:rPr>
              <a:t>An LLM that can choose the trade, size the position, and send the order has </a:t>
            </a:r>
            <a:r>
              <a:rPr sz="1600" b="1">
                <a:solidFill>
                  <a:srgbClr val="E6EDF3"/>
                </a:solidFill>
                <a:latin typeface="Segoe UI"/>
              </a:rPr>
              <a:t>unbounded downside</a:t>
            </a:r>
            <a:r>
              <a:rPr sz="1600" b="0">
                <a:solidFill>
                  <a:srgbClr val="A9B6C3"/>
                </a:solidFill>
                <a:latin typeface="Segoe UI"/>
              </a:rPr>
              <a:t> the moment it hallucinates a strike or misreads a quote.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600" b="0">
                <a:solidFill>
                  <a:srgbClr val="A9B6C3"/>
                </a:solidFill>
                <a:latin typeface="Segoe UI"/>
              </a:rPr>
              <a:t>You cannot unit-test a language model. You can unit-test the code that decides whether to obey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237744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52360" y="260604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VETOED'S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97180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4DD4C0"/>
                </a:solidFill>
                <a:latin typeface="Consolas"/>
              </a:rPr>
              <a:t>The model picks an index
from a pre-vetted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8862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That is its entire authority. Everything else is deterministic, tested code that can overrule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02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7708"/>
            <a:ext cx="2031949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THE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Sell insurance. Don't predict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9692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700" b="0">
                <a:solidFill>
                  <a:srgbClr val="A9B6C3"/>
                </a:solidFill>
                <a:latin typeface="Segoe UI"/>
              </a:rPr>
              <a:t>The agent sells </a:t>
            </a:r>
            <a:r>
              <a:rPr sz="1700" b="1">
                <a:solidFill>
                  <a:srgbClr val="E6EDF3"/>
                </a:solidFill>
                <a:latin typeface="Segoe UI"/>
              </a:rPr>
              <a:t>defined-risk vertical credit spreads</a:t>
            </a:r>
            <a:r>
              <a:rPr sz="1700" b="0">
                <a:solidFill>
                  <a:srgbClr val="A9B6C3"/>
                </a:solidFill>
                <a:latin typeface="Segoe UI"/>
              </a:rPr>
              <a:t> — short one option, long another further out. The long leg caps the loss, so the worst case is known before the order is sent.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700" b="0">
                <a:solidFill>
                  <a:srgbClr val="A9B6C3"/>
                </a:solidFill>
                <a:latin typeface="Segoe UI"/>
              </a:rPr>
              <a:t>It profits because risk-neutral probabilities systematically </a:t>
            </a:r>
            <a:r>
              <a:rPr sz="1700" b="1">
                <a:solidFill>
                  <a:srgbClr val="E6EDF3"/>
                </a:solidFill>
                <a:latin typeface="Segoe UI"/>
              </a:rPr>
              <a:t>overstate</a:t>
            </a:r>
            <a:r>
              <a:rPr sz="1700" b="0">
                <a:solidFill>
                  <a:srgbClr val="A9B6C3"/>
                </a:solidFill>
                <a:latin typeface="Segoe UI"/>
              </a:rPr>
              <a:t> the real-world chance of big moves. Option buyers overpay for protection. That gap is the </a:t>
            </a:r>
            <a:r>
              <a:rPr sz="1700" b="1">
                <a:solidFill>
                  <a:srgbClr val="4DD4C0"/>
                </a:solidFill>
                <a:latin typeface="Segoe UI"/>
              </a:rPr>
              <a:t>volatility risk premium</a:t>
            </a:r>
            <a:r>
              <a:rPr sz="1700" b="0">
                <a:solidFill>
                  <a:srgbClr val="A9B6C3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4632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Bakshi &amp; Kapadia (2003), RFS 16(2)  ·  Carr &amp; Wu (2009), RFS 22(3)  ·  CBOE PUT index, Jun 1986–Dec 2018: 9.95% vs 14.93% volatility at near-identical return.
</a:t>
            </a:r>
            <a:r>
              <a:rPr sz="1150" b="0">
                <a:solidFill>
                  <a:srgbClr val="F0A93B"/>
                </a:solidFill>
                <a:latin typeface="Segoe UI"/>
              </a:rPr>
              <a:t>These establish that the premium exists. They do not validate this agent: the PUT index is monthly at-the-money cash-secured puts, not 2–14 DTE defined-risk spreads.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708"/>
            <a:ext cx="3047923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WHY A RISK-NEUTRAL EV MEASURES NOTHING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The signal has to be a difference,
not a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5669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600" b="0">
                <a:solidFill>
                  <a:srgbClr val="A9B6C3"/>
                </a:solidFill>
                <a:latin typeface="Segoe UI"/>
              </a:rPr>
              <a:t>Under the risk-neutral measure a fairly-priced trade has an expected P&amp;L of exactly </a:t>
            </a:r>
            <a:r>
              <a:rPr sz="1600" b="1">
                <a:solidFill>
                  <a:srgbClr val="E6EDF3"/>
                </a:solidFill>
                <a:latin typeface="Segoe UI"/>
              </a:rPr>
              <a:t>zero</a:t>
            </a:r>
            <a:r>
              <a:rPr sz="1600" b="0">
                <a:solidFill>
                  <a:srgbClr val="A9B6C3"/>
                </a:solidFill>
                <a:latin typeface="Segoe UI"/>
              </a:rPr>
              <a:t>. A no-arbitrage identity, not an opinion.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600" b="0">
                <a:solidFill>
                  <a:srgbClr val="A9B6C3"/>
                </a:solidFill>
                <a:latin typeface="Segoe UI"/>
              </a:rPr>
              <a:t>So an EV built from risk-neutral inputs can only reflect </a:t>
            </a:r>
            <a:r>
              <a:rPr sz="1600" b="1">
                <a:solidFill>
                  <a:srgbClr val="F2685C"/>
                </a:solidFill>
                <a:latin typeface="Segoe UI"/>
              </a:rPr>
              <a:t>quoting noise</a:t>
            </a:r>
            <a:r>
              <a:rPr sz="1600" b="0">
                <a:solidFill>
                  <a:srgbClr val="A9B6C3"/>
                </a:solidFill>
                <a:latin typeface="Segoe UI"/>
              </a:rPr>
              <a:t>. The edge has to come from comparing two volatilities.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2743200"/>
            <a:ext cx="4297680" cy="210312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79208" y="299923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0">
                <a:solidFill>
                  <a:srgbClr val="F0A93B"/>
                </a:solidFill>
                <a:latin typeface="Consolas"/>
              </a:rPr>
              <a:t>AND DELTA IS NOT A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208" y="3401568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4DD4C0"/>
                </a:solidFill>
                <a:latin typeface="Consolas"/>
              </a:rPr>
              <a:t>delta  = N(d1)
P(ITM) = N(d2)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427939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5828F"/>
                </a:solidFill>
                <a:latin typeface="Segoe UI"/>
              </a:rPr>
              <a:t>The gap flips sign between calls and 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04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7708"/>
            <a:ext cx="4063898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THE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One model. Two volatilities.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058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700" b="0">
                <a:solidFill>
                  <a:srgbClr val="A9B6C3"/>
                </a:solidFill>
                <a:latin typeface="Segoe UI"/>
              </a:rPr>
              <a:t>Price the same spread twice through the same lognormal. Change only the volatility fed into it. The difference is the premium — not an artefact of comparing two different formulas.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00400"/>
            <a:ext cx="10637215" cy="16002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3429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4DD4C0"/>
                </a:solidFill>
                <a:latin typeface="Consolas"/>
              </a:rPr>
              <a:t>ev_rw</a:t>
            </a:r>
            <a:r>
              <a:rPr sz="1500" b="0">
                <a:solidFill>
                  <a:srgbClr val="A9B6C3"/>
                </a:solidFill>
                <a:latin typeface="Consolas"/>
              </a:rPr>
              <a:t>     = spread priced at 20-day REALISED volatility
</a:t>
            </a:r>
            <a:r>
              <a:rPr sz="1500" b="1">
                <a:solidFill>
                  <a:srgbClr val="4DD4C0"/>
                </a:solidFill>
                <a:latin typeface="Consolas"/>
              </a:rPr>
              <a:t>ev_rn</a:t>
            </a:r>
            <a:r>
              <a:rPr sz="1500" b="0">
                <a:solidFill>
                  <a:srgbClr val="A9B6C3"/>
                </a:solidFill>
                <a:latin typeface="Consolas"/>
              </a:rPr>
              <a:t>     = spread priced at the market's IMPLIED volatility
</a:t>
            </a:r>
            <a:r>
              <a:rPr sz="1500" b="1">
                <a:solidFill>
                  <a:srgbClr val="E6EDF3"/>
                </a:solidFill>
                <a:latin typeface="Consolas"/>
              </a:rPr>
              <a:t>vrp_edge = ev_rw − ev_rn</a:t>
            </a:r>
            <a:r>
              <a:rPr sz="1500" b="0">
                <a:solidFill>
                  <a:srgbClr val="75828F"/>
                </a:solidFill>
                <a:latin typeface="Consolas"/>
              </a:rPr>
              <a:t>     ← the premium, in dollars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A9B6C3"/>
                </a:solidFill>
                <a:latin typeface="Segoe UI"/>
              </a:rPr>
              <a:t>It must clear </a:t>
            </a:r>
            <a:r>
              <a:rPr sz="1500" b="1">
                <a:solidFill>
                  <a:srgbClr val="E6EDF3"/>
                </a:solidFill>
                <a:latin typeface="Segoe UI"/>
              </a:rPr>
              <a:t>$2.00</a:t>
            </a:r>
            <a:r>
              <a:rPr sz="1500" b="0">
                <a:solidFill>
                  <a:srgbClr val="A9B6C3"/>
                </a:solidFill>
                <a:latin typeface="Segoe UI"/>
              </a:rPr>
              <a:t> or the spread is discarded, and the shortlist ranks on </a:t>
            </a:r>
            <a:r>
              <a:rPr sz="1500" b="0">
                <a:solidFill>
                  <a:srgbClr val="4DD4C0"/>
                </a:solidFill>
                <a:latin typeface="Consolas"/>
              </a:rPr>
              <a:t>vrp_edge / max_loss</a:t>
            </a:r>
            <a:r>
              <a:rPr sz="1500" b="0">
                <a:solidFill>
                  <a:srgbClr val="A9B6C3"/>
                </a:solidFill>
                <a:latin typeface="Segoe UI"/>
              </a:rPr>
              <a:t> — premium per dollar actually at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7708"/>
            <a:ext cx="5079872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PROOF THE MEASUREMENT IS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I caught my own agent lying.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04288"/>
            <a:ext cx="5943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350" b="1">
                <a:solidFill>
                  <a:srgbClr val="F0A93B"/>
                </a:solidFill>
                <a:latin typeface="Segoe UI"/>
              </a:rPr>
              <a:t>One. </a:t>
            </a:r>
            <a:r>
              <a:rPr sz="1350" b="0">
                <a:solidFill>
                  <a:srgbClr val="A9B6C3"/>
                </a:solidFill>
                <a:latin typeface="Segoe UI"/>
              </a:rPr>
              <a:t>The first build priced one side off </a:t>
            </a:r>
            <a:r>
              <a:rPr sz="1350" b="1">
                <a:solidFill>
                  <a:srgbClr val="E6EDF3"/>
                </a:solidFill>
                <a:latin typeface="Segoe UI"/>
              </a:rPr>
              <a:t>delta</a:t>
            </a:r>
            <a:r>
              <a:rPr sz="1350" b="0">
                <a:solidFill>
                  <a:srgbClr val="A9B6C3"/>
                </a:solidFill>
                <a:latin typeface="Segoe UI"/>
              </a:rPr>
              <a:t> and the other off a lognormal. IWM at implied 14.84% against realised 14.58% — no gap existed — and it reported $2.75 anyway.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350" b="1">
                <a:solidFill>
                  <a:srgbClr val="F0A93B"/>
                </a:solidFill>
                <a:latin typeface="Segoe UI"/>
              </a:rPr>
              <a:t>Two. </a:t>
            </a:r>
            <a:r>
              <a:rPr sz="1350" b="0">
                <a:solidFill>
                  <a:srgbClr val="A9B6C3"/>
                </a:solidFill>
                <a:latin typeface="Segoe UI"/>
              </a:rPr>
              <a:t>The payoff between the strikes was valued at its midpoint. Under a lognormal that is wrong by up to </a:t>
            </a:r>
            <a:r>
              <a:rPr sz="1350" b="1">
                <a:solidFill>
                  <a:srgbClr val="E6EDF3"/>
                </a:solidFill>
                <a:latin typeface="Segoe UI"/>
              </a:rPr>
              <a:t>$37</a:t>
            </a:r>
            <a:r>
              <a:rPr sz="1350" b="0">
                <a:solidFill>
                  <a:srgbClr val="A9B6C3"/>
                </a:solidFill>
                <a:latin typeface="Segoe UI"/>
              </a:rPr>
              <a:t>, and it exceeded the $2.00 gate in 17% of cases — enough to flip a trade decision, not just a displayed number.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Both fixed, both pinned by tests.</a:t>
            </a:r>
            <a:r>
              <a:rPr sz="1350" b="0">
                <a:solidFill>
                  <a:srgbClr val="A9B6C3"/>
                </a:solidFill>
                <a:latin typeface="Segoe UI"/>
              </a:rPr>
              <a:t> The expected value is now exact in closed form, checked against a brute-force integral of the payoff.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23317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88936" y="2551176"/>
            <a:ext cx="3675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REPORTED ON A NO-GAP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936" y="2825496"/>
            <a:ext cx="3675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2685C"/>
                </a:solidFill>
                <a:latin typeface="Consolas"/>
              </a:rPr>
              <a:t>+$2.75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936" y="3054096"/>
            <a:ext cx="3675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delta priced one side, a lognormal the 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3913632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88936" y="4133088"/>
            <a:ext cx="3675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SAME TRADE, ONE EXACT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936" y="4407408"/>
            <a:ext cx="3675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ECF8E"/>
                </a:solidFill>
                <a:latin typeface="Consolas"/>
              </a:rPr>
              <a:t>+$0.34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936" y="4818888"/>
            <a:ext cx="3675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honest, and below the $2.00 gate — so it is not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06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7708"/>
            <a:ext cx="6095847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SEPARATION OF POWERS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The model proposes. Deterministic code disposes.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95728"/>
            <a:ext cx="3108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screener.py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what is VALID
pure 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83464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75828F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395728"/>
            <a:ext cx="3108960" cy="1234440"/>
          </a:xfrm>
          <a:prstGeom prst="roundRect">
            <a:avLst>
              <a:gd name="adj" fmla="val 6000"/>
            </a:avLst>
          </a:prstGeom>
          <a:solidFill>
            <a:srgbClr val="241B0C"/>
          </a:solidFill>
          <a:ln w="12700">
            <a:solidFill>
              <a:srgbClr val="F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0A93B"/>
                </a:solidFill>
                <a:latin typeface="Consolas"/>
              </a:rPr>
              <a:t>brain.py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what is GOOD
Featherless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75828F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395728"/>
            <a:ext cx="3108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risk.py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what is ALLOWED
8 hard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6C3"/>
                </a:solidFill>
                <a:latin typeface="Segoe UI"/>
              </a:rPr>
              <a:t>Echoed legs are compared to the real 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776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F2685C"/>
                </a:solidFill>
                <a:latin typeface="Consolas"/>
              </a:rPr>
              <a:t>HALLUCINATION → NO-TRADE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361687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7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6C3"/>
                </a:solidFill>
                <a:latin typeface="Segoe UI"/>
              </a:rPr>
              <a:t>The model returns contracts, and it is discarded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54456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F2685C"/>
                </a:solidFill>
                <a:latin typeface="Consolas"/>
              </a:rPr>
              <a:t>CANNOT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28615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11495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6C3"/>
                </a:solidFill>
                <a:latin typeface="Segoe UI"/>
              </a:rPr>
              <a:t>No tool output reaches it; the rest is whitelisted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111495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F2685C"/>
                </a:solidFill>
                <a:latin typeface="Consolas"/>
              </a:rPr>
              <a:t>CONTROLLED VOCABULARY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95543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78423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6C3"/>
                </a:solidFill>
                <a:latin typeface="Segoe UI"/>
              </a:rPr>
              <a:t>No LLM at all? Deterministic selection runs instead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678423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ECF8E"/>
                </a:solidFill>
                <a:latin typeface="Consolas"/>
              </a:rPr>
              <a:t>STILL AUTONOMOUS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062471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07 /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708"/>
            <a:ext cx="7111822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RISK IS NOT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Eight gates. Any veto rejects outright.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2395728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DF3"/>
                </a:solidFill>
                <a:latin typeface="Segoe UI"/>
              </a:rPr>
              <a:t>Never naked</a:t>
            </a:r>
            <a:r>
              <a:rPr sz="1400" b="0">
                <a:solidFill>
                  <a:srgbClr val="A9B6C3"/>
                </a:solidFill>
                <a:latin typeface="Segoe UI"/>
              </a:rPr>
              <a:t> — enforced three times: the screener only builds pairs, a gate proves the long leg caps the loss, and both legs move as one atomic mleg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2841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3328416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DF3"/>
                </a:solidFill>
                <a:latin typeface="Segoe UI"/>
              </a:rPr>
              <a:t>Loss always capped</a:t>
            </a:r>
            <a:r>
              <a:rPr sz="1400" b="0">
                <a:solidFill>
                  <a:srgbClr val="A9B6C3"/>
                </a:solidFill>
                <a:latin typeface="Segoe UI"/>
              </a:rPr>
              <a:t> — reconciled against width×100 − credit×100.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611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4261104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DF3"/>
                </a:solidFill>
                <a:latin typeface="Segoe UI"/>
              </a:rPr>
              <a:t>The LLM cannot size</a:t>
            </a:r>
            <a:r>
              <a:rPr sz="1400" b="0">
                <a:solidFill>
                  <a:srgbClr val="A9B6C3"/>
                </a:solidFill>
                <a:latin typeface="Segoe UI"/>
              </a:rPr>
              <a:t> — sizing is the minimum of four constraints and a hard 25-contract cap.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5193792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DF3"/>
                </a:solidFill>
                <a:latin typeface="Segoe UI"/>
              </a:rPr>
              <a:t>Guardrails only ever restrict</a:t>
            </a:r>
            <a:r>
              <a:rPr sz="1400" b="0">
                <a:solidFill>
                  <a:srgbClr val="A9B6C3"/>
                </a:solidFill>
                <a:latin typeface="Segoe UI"/>
              </a:rPr>
              <a:t> — clamped structurally, never by convention.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33172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88936" y="2551176"/>
            <a:ext cx="3675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PER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825496"/>
            <a:ext cx="3675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6EDF3"/>
                </a:solidFill>
                <a:latin typeface="Consolas"/>
              </a:rPr>
              <a:t>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42900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88936" y="3648456"/>
            <a:ext cx="3675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DAILY LOSS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3922776"/>
            <a:ext cx="3675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2685C"/>
                </a:solidFill>
                <a:latin typeface="Consolas"/>
              </a:rPr>
              <a:t>−3%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526280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88936" y="4745736"/>
            <a:ext cx="3675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EXITS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5020056"/>
            <a:ext cx="3675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+50% / −2× / δ×2 / 1DTE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5065776"/>
            <a:ext cx="3675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the stop fires at 44% of max loss, not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08 /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7708"/>
            <a:ext cx="8127796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IT REFUSES TO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20 valid spreads. 7 survived.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128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9B6C3"/>
                </a:solidFill>
                <a:latin typeface="Segoe UI"/>
              </a:rPr>
              <a:t>One snapshot, counted at each gate. The signal tracks implied-versus-realised, as the hypothesis predicts.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30">
                <a:solidFill>
                  <a:srgbClr val="75828F"/>
                </a:solidFill>
                <a:latin typeface="Consolas"/>
              </a:rPr>
              <a:t>UNDERLYING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788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30">
                <a:solidFill>
                  <a:srgbClr val="75828F"/>
                </a:solidFill>
                <a:latin typeface="Consolas"/>
              </a:rPr>
              <a:t>IMPLIED / REALISED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7889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30">
                <a:solidFill>
                  <a:srgbClr val="75828F"/>
                </a:solidFill>
                <a:latin typeface="Consolas"/>
              </a:rPr>
              <a:t>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7296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AAPL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1729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ECF8E"/>
                </a:solidFill>
                <a:latin typeface="Consolas"/>
              </a:rPr>
              <a:t>1.260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17296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B6C3"/>
                </a:solidFill>
                <a:latin typeface="Segoe UI"/>
              </a:rPr>
              <a:t>2 of 2 survive — +$42.45 and +$33.42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38728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SPY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033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0A93B"/>
                </a:solidFill>
                <a:latin typeface="Consolas"/>
              </a:rPr>
              <a:t>1.069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70332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B6C3"/>
                </a:solidFill>
                <a:latin typeface="Segoe UI"/>
              </a:rPr>
              <a:t>3 of 3 survive, +$4.29 to +$5.44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IWM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23367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0A93B"/>
                </a:solidFill>
                <a:latin typeface="Consolas"/>
              </a:rPr>
              <a:t>1.067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23367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B6C3"/>
                </a:solidFill>
                <a:latin typeface="Segoe UI"/>
              </a:rPr>
              <a:t>2 of 13 survive, best +$11.67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99432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6402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QQQ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7640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685C"/>
                </a:solidFill>
                <a:latin typeface="Consolas"/>
              </a:rPr>
              <a:t>0.894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76402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685C"/>
                </a:solidFill>
                <a:latin typeface="Segoe UI"/>
              </a:rPr>
              <a:t>0 of 2 — implied below realised, it sits 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129784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2297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Segoe UI"/>
              </a:rPr>
              <a:t>QQQ sitting out is the point.</a:t>
            </a:r>
            <a:r>
              <a:rPr sz="1500" b="0">
                <a:solidFill>
                  <a:srgbClr val="A9B6C3"/>
                </a:solidFill>
                <a:latin typeface="Segoe UI"/>
              </a:rPr>
              <a:t> The agent is not looking for trades. It is looking for paid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09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708"/>
            <a:ext cx="9143771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LIVE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Every decision is auditable,
including the refusals.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500" b="0">
                <a:solidFill>
                  <a:srgbClr val="A9B6C3"/>
                </a:solidFill>
                <a:latin typeface="Segoe UI"/>
              </a:rPr>
              <a:t>The dashboard renders the SQLite journal: the screening funnel, implied-vs-realised per underlying, the measured edge on every candidate, and </a:t>
            </a:r>
            <a:r>
              <a:rPr sz="1500" b="1">
                <a:solidFill>
                  <a:srgbClr val="E6EDF3"/>
                </a:solidFill>
                <a:latin typeface="Segoe UI"/>
              </a:rPr>
              <a:t>every trade the risk gates vetoed</a:t>
            </a:r>
            <a:r>
              <a:rPr sz="1500" b="0">
                <a:solidFill>
                  <a:srgbClr val="A9B6C3"/>
                </a:solidFill>
                <a:latin typeface="Segoe UI"/>
              </a:rPr>
              <a:t>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500" b="0">
                <a:solidFill>
                  <a:srgbClr val="A9B6C3"/>
                </a:solidFill>
                <a:latin typeface="Segoe UI"/>
              </a:rPr>
              <a:t>It is static and read-only — no server to sleep, and no route that could place an order even if it were compromised.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DD4C0"/>
                </a:solidFill>
                <a:latin typeface="Consolas"/>
              </a:rPr>
              <a:t>chong1120.github.io/Vetoed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260604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88936" y="2825496"/>
            <a:ext cx="1527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936" y="3099816"/>
            <a:ext cx="15270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ECF8E"/>
                </a:solidFill>
                <a:latin typeface="Consolas"/>
              </a:rPr>
              <a:t>199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936" y="3145536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60604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37776" y="2825496"/>
            <a:ext cx="1527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LLM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7776" y="3099816"/>
            <a:ext cx="15270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onsola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7776" y="3145536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to the broker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02336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88936" y="4242816"/>
            <a:ext cx="1527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RISK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4517136"/>
            <a:ext cx="15270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onsola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4562856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any one vetoes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02336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37776" y="4242816"/>
            <a:ext cx="1527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NAKED 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4517136"/>
            <a:ext cx="15270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ECF8E"/>
                </a:solidFill>
                <a:latin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4562856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structurally impossible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10 /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7708"/>
            <a:ext cx="10159745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WHAT I AM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The limits, stated before you find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957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6EDF3"/>
                </a:solidFill>
                <a:latin typeface="Segoe UI"/>
              </a:rPr>
              <a:t>Quotes are indicative, not NBBO.</a:t>
            </a:r>
            <a:r>
              <a:rPr sz="1500" b="0">
                <a:solidFill>
                  <a:srgbClr val="A9B6C3"/>
                </a:solidFill>
                <a:latin typeface="Segoe UI"/>
              </a:rPr>
              <a:t> No OPRA agreement, so the credit — and every number downstream — comes from a derived quote.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01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101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6EDF3"/>
                </a:solidFill>
                <a:latin typeface="Segoe UI"/>
              </a:rPr>
              <a:t>Four correlated tickers is not diversification.</a:t>
            </a:r>
            <a:r>
              <a:rPr sz="1500" b="0">
                <a:solidFill>
                  <a:srgbClr val="A9B6C3"/>
                </a:solidFill>
                <a:latin typeface="Segoe UI"/>
              </a:rPr>
              <a:t> It spreads across names, not risk factors.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245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245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6EDF3"/>
                </a:solidFill>
                <a:latin typeface="Segoe UI"/>
              </a:rPr>
              <a:t>The literature is the prior, not the proof.</a:t>
            </a:r>
            <a:r>
              <a:rPr sz="1500" b="0">
                <a:solidFill>
                  <a:srgbClr val="A9B6C3"/>
                </a:solidFill>
                <a:latin typeface="Segoe UI"/>
              </a:rPr>
              <a:t> It shows a volatility premium exists. It does not validate this horizon, these strikes, or any threshold in this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389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6EDF3"/>
                </a:solidFill>
                <a:latin typeface="Segoe UI"/>
              </a:rPr>
              <a:t>A contest window is statistical noise.</a:t>
            </a:r>
            <a:r>
              <a:rPr sz="1500" b="0">
                <a:solidFill>
                  <a:srgbClr val="A9B6C3"/>
                </a:solidFill>
                <a:latin typeface="Segoe UI"/>
              </a:rPr>
              <a:t> Ten to twenty trades cannot separate a 60% win rate from 70%. That is exactly why the circuit breaker refuses to react to fewer than five closed trades, and can only ever tighten.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11 /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7708"/>
            <a:ext cx="11175720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60">
                <a:solidFill>
                  <a:srgbClr val="4DD4C0"/>
                </a:solidFill>
                <a:latin typeface="Consolas"/>
              </a:rPr>
              <a:t>VETOED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6372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6EDF3"/>
                </a:solidFill>
                <a:latin typeface="Segoe UI"/>
              </a:rPr>
              <a:t>An agent that is most useful
when it says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3484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400" b="1">
                <a:solidFill>
                  <a:srgbClr val="4DD4C0"/>
                </a:solidFill>
                <a:latin typeface="Consolas"/>
              </a:rPr>
              <a:t>chong1120.github.io/Vetoed
</a:t>
            </a:r>
            <a:r>
              <a:rPr sz="1400" b="0">
                <a:solidFill>
                  <a:srgbClr val="A9B6C3"/>
                </a:solidFill>
                <a:latin typeface="Consolas"/>
              </a:rPr>
              <a:t>github.com/Chong1120/Vetoed
</a:t>
            </a:r>
            <a:r>
              <a:rPr sz="1400" b="0">
                <a:solidFill>
                  <a:srgbClr val="75828F"/>
                </a:solidFill>
                <a:latin typeface="Consolas"/>
              </a:rPr>
              <a:t>MIT  ·  Alpaca paper trading  ·  199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