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1874519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60">
                <a:solidFill>
                  <a:srgbClr val="4DD4C0"/>
                </a:solidFill>
                <a:latin typeface="Consolas"/>
              </a:rPr>
              <a:t>ALPACA AI TRADING AGENTS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286000"/>
            <a:ext cx="106372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1">
                <a:solidFill>
                  <a:srgbClr val="E6EDF3"/>
                </a:solidFill>
                <a:latin typeface="Segoe UI"/>
              </a:rPr>
              <a:t>Vetoed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703320"/>
            <a:ext cx="7863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0">
                <a:solidFill>
                  <a:srgbClr val="A9B6C3"/>
                </a:solidFill>
                <a:latin typeface="Segoe UI"/>
              </a:rPr>
              <a:t>An autonomous options agent where </a:t>
            </a:r>
            <a:r>
              <a:rPr sz="2300" b="1">
                <a:solidFill>
                  <a:srgbClr val="E6EDF3"/>
                </a:solidFill>
                <a:latin typeface="Segoe UI"/>
              </a:rPr>
              <a:t>the AI is the least-trusted component.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02920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5828F"/>
                </a:solidFill>
                <a:latin typeface="Consolas"/>
              </a:rPr>
              <a:t>Alpaca paper trading   ·   chong1120.github.io/Vetoed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Most AI trading agents give the model
too much authority.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97480"/>
            <a:ext cx="603504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You cannot unit-test a language model.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900" b="1">
                <a:solidFill>
                  <a:srgbClr val="4DD4C0"/>
                </a:solidFill>
                <a:latin typeface="Segoe UI"/>
              </a:rPr>
              <a:t>But you can unit-test the code that decides whether to obey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2514600"/>
            <a:ext cx="4023360" cy="22860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53528" y="27889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30">
                <a:solidFill>
                  <a:srgbClr val="75828F"/>
                </a:solidFill>
                <a:latin typeface="Consolas"/>
              </a:rPr>
              <a:t>SO THE MODEL'S ENTIRE AUTHORITY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53528" y="3200400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>
                <a:solidFill>
                  <a:srgbClr val="4DD4C0"/>
                </a:solidFill>
                <a:latin typeface="Segoe UI"/>
              </a:rPr>
              <a:t>Pick one item from a list
it did not write.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53528" y="4160520"/>
            <a:ext cx="3474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It cannot build a trade, choose a size, or send an order.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02 / 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807708"/>
            <a:ext cx="2031949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THE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We sell defined-risk insurance.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A9B6C3"/>
                </a:solidFill>
                <a:latin typeface="Segoe UI"/>
              </a:rPr>
              <a:t>Two legs, always. The one we sell collects a premium; the one we buy </a:t>
            </a:r>
            <a:r>
              <a:rPr sz="1500" b="1">
                <a:solidFill>
                  <a:srgbClr val="E6EDF3"/>
                </a:solidFill>
                <a:latin typeface="Segoe UI"/>
              </a:rPr>
              <a:t>caps the loss before the order is sent</a:t>
            </a:r>
            <a:r>
              <a:rPr sz="1500" b="0">
                <a:solidFill>
                  <a:srgbClr val="A9B6C3"/>
                </a:solidFill>
                <a:latin typeface="Segoe U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34640"/>
            <a:ext cx="5029200" cy="2743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3035808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110">
                <a:solidFill>
                  <a:srgbClr val="3ECF8E"/>
                </a:solidFill>
                <a:latin typeface="Consolas"/>
              </a:rPr>
              <a:t>PUT CREDIT SPREAD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64992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Profits if the stock does not fall far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4693920"/>
            <a:ext cx="1325880" cy="55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1188720" y="4709160"/>
            <a:ext cx="1325880" cy="0"/>
          </a:xfrm>
          <a:prstGeom prst="line">
            <a:avLst/>
          </a:prstGeom>
          <a:ln w="31750">
            <a:solidFill>
              <a:srgbClr val="3ECF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514600" y="3779520"/>
            <a:ext cx="1280160" cy="944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2514600" y="3794760"/>
            <a:ext cx="1280160" cy="914400"/>
          </a:xfrm>
          <a:prstGeom prst="line">
            <a:avLst/>
          </a:prstGeom>
          <a:ln w="31750">
            <a:solidFill>
              <a:srgbClr val="3ECF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794760" y="3779520"/>
            <a:ext cx="1600200" cy="55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3794760" y="3794760"/>
            <a:ext cx="1600200" cy="0"/>
          </a:xfrm>
          <a:prstGeom prst="line">
            <a:avLst/>
          </a:prstGeom>
          <a:ln w="31750">
            <a:solidFill>
              <a:srgbClr val="3ECF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51560" y="502920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9B6C3"/>
                </a:solidFill>
                <a:latin typeface="Segoe UI"/>
              </a:rPr>
              <a:t>SELL the 310 put   ·   BUY the 305 put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834640"/>
            <a:ext cx="5029200" cy="2743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035808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110">
                <a:solidFill>
                  <a:srgbClr val="F2685C"/>
                </a:solidFill>
                <a:latin typeface="Consolas"/>
              </a:rPr>
              <a:t>CALL CREDIT SPREAD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364992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Profits if the stock does not rise far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3779520"/>
            <a:ext cx="1325880" cy="55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6583680" y="3794760"/>
            <a:ext cx="1325880" cy="0"/>
          </a:xfrm>
          <a:prstGeom prst="line">
            <a:avLst/>
          </a:prstGeom>
          <a:ln w="31750">
            <a:solidFill>
              <a:srgbClr val="F26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909560" y="3779520"/>
            <a:ext cx="1280160" cy="944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>
            <a:off x="7909560" y="3794760"/>
            <a:ext cx="1280160" cy="914400"/>
          </a:xfrm>
          <a:prstGeom prst="line">
            <a:avLst/>
          </a:prstGeom>
          <a:ln w="31750">
            <a:solidFill>
              <a:srgbClr val="F26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9189720" y="4693920"/>
            <a:ext cx="1600200" cy="55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>
            <a:off x="9189720" y="4709160"/>
            <a:ext cx="1600200" cy="0"/>
          </a:xfrm>
          <a:prstGeom prst="line">
            <a:avLst/>
          </a:prstGeom>
          <a:ln w="31750">
            <a:solidFill>
              <a:srgbClr val="F26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46520" y="502920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9B6C3"/>
                </a:solidFill>
                <a:latin typeface="Segoe UI"/>
              </a:rPr>
              <a:t>SELL the 300 call   ·   BUY the 305 call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03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807708"/>
            <a:ext cx="3047923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WHY VOLATILITY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Two numbers. When they disagree,
the seller is being paid.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743200"/>
            <a:ext cx="59436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500" b="1">
                <a:solidFill>
                  <a:srgbClr val="4DD4C0"/>
                </a:solidFill>
                <a:latin typeface="Segoe UI"/>
              </a:rPr>
              <a:t>Implied volatility</a:t>
            </a:r>
            <a:r>
              <a:rPr sz="1500" b="0">
                <a:solidFill>
                  <a:srgbClr val="A9B6C3"/>
                </a:solidFill>
                <a:latin typeface="Segoe UI"/>
              </a:rPr>
              <a:t> — how much movement option prices are charging for.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500" b="1">
                <a:solidFill>
                  <a:srgbClr val="3ECF8E"/>
                </a:solidFill>
                <a:latin typeface="Segoe UI"/>
              </a:rPr>
              <a:t>Realised volatility</a:t>
            </a:r>
            <a:r>
              <a:rPr sz="1500" b="0">
                <a:solidFill>
                  <a:srgbClr val="A9B6C3"/>
                </a:solidFill>
                <a:latin typeface="Segoe UI"/>
              </a:rPr>
              <a:t> — how much the stock actually moved recently.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500" b="0">
                <a:solidFill>
                  <a:srgbClr val="A9B6C3"/>
                </a:solidFill>
                <a:latin typeface="Segoe UI"/>
              </a:rPr>
              <a:t>When implied sits above realised, options are priced for more movement than has been happening. </a:t>
            </a:r>
            <a:r>
              <a:rPr sz="1500" b="1">
                <a:solidFill>
                  <a:srgbClr val="E6EDF3"/>
                </a:solidFill>
                <a:latin typeface="Segoe UI"/>
              </a:rPr>
              <a:t>That gap is what a premium seller is trying to collect.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0" y="2514600"/>
            <a:ext cx="4114800" cy="278892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2088" y="274320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30">
                <a:solidFill>
                  <a:srgbClr val="75828F"/>
                </a:solidFill>
                <a:latin typeface="Consolas"/>
              </a:rPr>
              <a:t>AAPL, ONE LIVE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62088" y="3154680"/>
            <a:ext cx="21945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5828F"/>
                </a:solidFill>
                <a:latin typeface="Consolas"/>
              </a:rPr>
              <a:t>implied</a:t>
            </a:r>
          </a:p>
        </p:txBody>
      </p:sp>
      <p:sp>
        <p:nvSpPr>
          <p:cNvPr id="8" name="Rectangle 7"/>
          <p:cNvSpPr/>
          <p:nvPr/>
        </p:nvSpPr>
        <p:spPr>
          <a:xfrm>
            <a:off x="7562088" y="3410712"/>
            <a:ext cx="2606040" cy="201168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87000" y="3300984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DD4C0"/>
                </a:solidFill>
                <a:latin typeface="Consolas"/>
              </a:rPr>
              <a:t>23.8%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2088" y="3867912"/>
            <a:ext cx="21945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5828F"/>
                </a:solidFill>
                <a:latin typeface="Consolas"/>
              </a:rPr>
              <a:t>realised, 20 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62088" y="4123944"/>
            <a:ext cx="2066543" cy="201168"/>
          </a:xfrm>
          <a:prstGeom prst="rect">
            <a:avLst/>
          </a:prstGeom>
          <a:solidFill>
            <a:srgbClr val="3EC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287000" y="4014216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ECF8E"/>
                </a:solidFill>
                <a:latin typeface="Consolas"/>
              </a:rPr>
              <a:t>18.9%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62088" y="470916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5828F"/>
                </a:solidFill>
                <a:latin typeface="Consolas"/>
              </a:rPr>
              <a:t>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452628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4DD4C0"/>
                </a:solidFill>
                <a:latin typeface="Consolas"/>
              </a:rPr>
              <a:t>1.26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04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807708"/>
            <a:ext cx="4063898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THE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One model. Two volatility inputs.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94560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A9B6C3"/>
                </a:solidFill>
                <a:latin typeface="Segoe UI"/>
              </a:rPr>
              <a:t>Same spread, same payoff, same probability model. </a:t>
            </a:r>
            <a:r>
              <a:rPr sz="1500" b="1">
                <a:solidFill>
                  <a:srgbClr val="E6EDF3"/>
                </a:solidFill>
                <a:latin typeface="Segoe UI"/>
              </a:rPr>
              <a:t>Only the volatility changes.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432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96696" y="2962656"/>
            <a:ext cx="459028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PRICED AT REALISED VOL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" y="3236976"/>
            <a:ext cx="4590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dirty="0">
                <a:solidFill>
                  <a:srgbClr val="3ECF8E"/>
                </a:solidFill>
                <a:latin typeface="Consolas"/>
              </a:rPr>
              <a:t>+$28.59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" y="3712464"/>
            <a:ext cx="459028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dirty="0">
                <a:solidFill>
                  <a:srgbClr val="75828F"/>
                </a:solidFill>
                <a:latin typeface="Segoe UI"/>
              </a:rPr>
              <a:t>what it is worth if volatility keeps behaving like it has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7432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91656" y="2962656"/>
            <a:ext cx="459028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PRICED AT IMPLIED VOL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1656" y="3236976"/>
            <a:ext cx="4590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2685C"/>
                </a:solidFill>
                <a:latin typeface="Consolas"/>
              </a:rPr>
              <a:t>−$13.85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1656" y="3694176"/>
            <a:ext cx="459028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roughly what the market is charging for it today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315968"/>
            <a:ext cx="10424160" cy="1051560"/>
          </a:xfrm>
          <a:prstGeom prst="roundRect">
            <a:avLst>
              <a:gd name="adj" fmla="val 6000"/>
            </a:avLst>
          </a:prstGeom>
          <a:solidFill>
            <a:srgbClr val="123832"/>
          </a:solidFill>
          <a:ln w="12700">
            <a:solidFill>
              <a:srgbClr val="4DD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448056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30">
                <a:solidFill>
                  <a:srgbClr val="4DD4C0"/>
                </a:solidFill>
                <a:latin typeface="Consolas"/>
              </a:rPr>
              <a:t>VETOED'S MODEL-DERIVED EDGE — THE DIFFERENCE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773168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DD4C0"/>
                </a:solidFill>
                <a:latin typeface="Consolas"/>
              </a:rPr>
              <a:t>+$42.45</a:t>
            </a:r>
            <a:r>
              <a:rPr sz="1300" b="0">
                <a:solidFill>
                  <a:srgbClr val="A9B6C3"/>
                </a:solidFill>
                <a:latin typeface="Segoe UI"/>
              </a:rPr>
              <a:t>   per spread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532120"/>
            <a:ext cx="10424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This is </a:t>
            </a:r>
            <a:r>
              <a:rPr sz="1150" b="1">
                <a:solidFill>
                  <a:srgbClr val="E6EDF3"/>
                </a:solidFill>
                <a:latin typeface="Segoe UI"/>
              </a:rPr>
              <a:t>our own operational signal</a:t>
            </a:r>
            <a:r>
              <a:rPr sz="1150" b="0">
                <a:solidFill>
                  <a:srgbClr val="75828F"/>
                </a:solidFill>
                <a:latin typeface="Segoe UI"/>
              </a:rPr>
              <a:t>, motivated by volatility-risk-premium research — not the canonical academic VRP, which is defined on variance swap rates over a matched horizon.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05 / 12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807708"/>
            <a:ext cx="5079872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PROOF THE MEASUREMENT IS HONEST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I caught my own agent lying.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14600"/>
            <a:ext cx="585216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400" b="0">
                <a:solidFill>
                  <a:srgbClr val="A9B6C3"/>
                </a:solidFill>
                <a:latin typeface="Segoe UI"/>
              </a:rPr>
              <a:t>An IWM trade where implied and realised volatility were </a:t>
            </a:r>
            <a:r>
              <a:rPr sz="1400" b="1">
                <a:solidFill>
                  <a:srgbClr val="E6EDF3"/>
                </a:solidFill>
                <a:latin typeface="Segoe UI"/>
              </a:rPr>
              <a:t>almost identical</a:t>
            </a:r>
            <a:r>
              <a:rPr sz="1400" b="0">
                <a:solidFill>
                  <a:srgbClr val="A9B6C3"/>
                </a:solidFill>
                <a:latin typeface="Segoe UI"/>
              </a:rPr>
              <a:t> — so there was no gap to collect.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400" b="0">
                <a:solidFill>
                  <a:srgbClr val="A9B6C3"/>
                </a:solidFill>
                <a:latin typeface="Segoe UI"/>
              </a:rPr>
              <a:t>It reported a healthy edge anyway. Two defects: one side used </a:t>
            </a:r>
            <a:r>
              <a:rPr sz="1400" b="1">
                <a:solidFill>
                  <a:srgbClr val="E6EDF3"/>
                </a:solidFill>
                <a:latin typeface="Segoe UI"/>
              </a:rPr>
              <a:t>delta as a probability</a:t>
            </a:r>
            <a:r>
              <a:rPr sz="1400" b="0">
                <a:solidFill>
                  <a:srgbClr val="A9B6C3"/>
                </a:solidFill>
                <a:latin typeface="Segoe UI"/>
              </a:rPr>
              <a:t>, and the payoff between the strikes was </a:t>
            </a:r>
            <a:r>
              <a:rPr sz="1400" b="1">
                <a:solidFill>
                  <a:srgbClr val="E6EDF3"/>
                </a:solidFill>
                <a:latin typeface="Segoe UI"/>
              </a:rPr>
              <a:t>approximated at its midpoint</a:t>
            </a:r>
            <a:r>
              <a:rPr sz="1400" b="0">
                <a:solidFill>
                  <a:srgbClr val="A9B6C3"/>
                </a:solidFill>
                <a:latin typeface="Segoe UI"/>
              </a:rPr>
              <a:t>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400" b="1">
                <a:solidFill>
                  <a:srgbClr val="E6EDF3"/>
                </a:solidFill>
                <a:latin typeface="Segoe UI"/>
              </a:rPr>
              <a:t>Both changed real trade decisions</a:t>
            </a:r>
            <a:r>
              <a:rPr sz="1400" b="0">
                <a:solidFill>
                  <a:srgbClr val="A9B6C3"/>
                </a:solidFill>
                <a:latin typeface="Segoe UI"/>
              </a:rPr>
              <a:t>, not just displayed numbers. Found, fixed, pinned by tests.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0" y="2377440"/>
            <a:ext cx="4114800" cy="1207008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88936" y="2596896"/>
            <a:ext cx="367588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BEFORE — TWO MISMATCHED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8936" y="2871216"/>
            <a:ext cx="36758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2685C"/>
                </a:solidFill>
                <a:latin typeface="Consolas"/>
              </a:rPr>
              <a:t>+$2.75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88936" y="3200400"/>
            <a:ext cx="367588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reported on a trade with no gap on offer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9480" y="3712463"/>
            <a:ext cx="4114800" cy="1207008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88936" y="3931919"/>
            <a:ext cx="367588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AFTER — ONE CORRECTED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8936" y="4206239"/>
            <a:ext cx="36758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3ECF8E"/>
                </a:solidFill>
                <a:latin typeface="Consolas"/>
              </a:rPr>
              <a:t>+$0.34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8936" y="4544567"/>
            <a:ext cx="367588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dirty="0">
                <a:solidFill>
                  <a:srgbClr val="75828F"/>
                </a:solidFill>
                <a:latin typeface="Segoe UI"/>
              </a:rPr>
              <a:t>below the $2.00 gate — so it is not taken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9480" y="5047488"/>
            <a:ext cx="4114800" cy="9144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88936" y="5266944"/>
            <a:ext cx="367588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REGRESSION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88936" y="5541264"/>
            <a:ext cx="36758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DD4C0"/>
                </a:solidFill>
                <a:latin typeface="Consolas"/>
              </a:rPr>
              <a:t>77 → 236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06 / 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807708"/>
            <a:ext cx="6095847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SEPARATION OF POWERS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The model proposes.
Deterministic code disposes.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606040"/>
            <a:ext cx="2395728" cy="1298448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2788920"/>
            <a:ext cx="23957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onsolas"/>
              </a:rPr>
              <a:t>SCREENER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3ECF8E"/>
                </a:solidFill>
                <a:latin typeface="Segoe UI"/>
              </a:rPr>
              <a:t>builds valid spreads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0156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F2685C"/>
                </a:solidFill>
                <a:latin typeface="Segoe UI"/>
              </a:rPr>
              <a:t>no judgement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3108960"/>
            <a:ext cx="2834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75828F"/>
                </a:solidFill>
                <a:latin typeface="Consola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2606040"/>
            <a:ext cx="2395728" cy="1298448"/>
          </a:xfrm>
          <a:prstGeom prst="roundRect">
            <a:avLst>
              <a:gd name="adj" fmla="val 6000"/>
            </a:avLst>
          </a:prstGeom>
          <a:solidFill>
            <a:srgbClr val="241B0C"/>
          </a:solidFill>
          <a:ln w="12700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56432" y="2788920"/>
            <a:ext cx="23957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0A93B"/>
                </a:solidFill>
                <a:latin typeface="Consolas"/>
              </a:rPr>
              <a:t>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592" y="312724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3ECF8E"/>
                </a:solidFill>
                <a:latin typeface="Segoe UI"/>
              </a:rPr>
              <a:t>picks one, or none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340156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F2685C"/>
                </a:solidFill>
                <a:latin typeface="Segoe UI"/>
              </a:rPr>
              <a:t>cannot invent or 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3108960"/>
            <a:ext cx="2834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75828F"/>
                </a:solidFill>
                <a:latin typeface="Consola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2606040"/>
            <a:ext cx="2395728" cy="1298448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35624" y="2788920"/>
            <a:ext cx="23957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onsolas"/>
              </a:rPr>
              <a:t>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312724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3ECF8E"/>
                </a:solidFill>
                <a:latin typeface="Segoe UI"/>
              </a:rPr>
              <a:t>sizes, and can veto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2784" y="340156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F2685C"/>
                </a:solidFill>
                <a:latin typeface="Segoe UI"/>
              </a:rPr>
              <a:t>cannot be overruled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2" y="3108960"/>
            <a:ext cx="2834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75828F"/>
                </a:solidFill>
                <a:latin typeface="Consola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14816" y="2606040"/>
            <a:ext cx="2395728" cy="1298448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814816" y="2788920"/>
            <a:ext cx="23957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onsolas"/>
              </a:rPr>
              <a:t>ALPACA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1976" y="312724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3ECF8E"/>
                </a:solidFill>
                <a:latin typeface="Segoe UI"/>
              </a:rPr>
              <a:t>one atomic order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1976" y="340156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F2685C"/>
                </a:solidFill>
                <a:latin typeface="Segoe UI"/>
              </a:rPr>
              <a:t>never legs 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343400"/>
            <a:ext cx="6949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9B6C3"/>
                </a:solidFill>
                <a:latin typeface="Segoe UI"/>
              </a:rPr>
              <a:t>Echoed contracts are checked against the shortlist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4343400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10">
                <a:solidFill>
                  <a:srgbClr val="F2685C"/>
                </a:solidFill>
                <a:latin typeface="Consolas"/>
              </a:rPr>
              <a:t>HALLUCINATION → NO TRADE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690872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4855464"/>
            <a:ext cx="6949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9B6C3"/>
                </a:solidFill>
                <a:latin typeface="Segoe UI"/>
              </a:rPr>
              <a:t>The model's requested size is discarded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4855464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10">
                <a:solidFill>
                  <a:srgbClr val="F2685C"/>
                </a:solidFill>
                <a:latin typeface="Consolas"/>
              </a:rPr>
              <a:t>CANNOT SIZE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202936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5367528"/>
            <a:ext cx="6949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9B6C3"/>
                </a:solidFill>
                <a:latin typeface="Segoe UI"/>
              </a:rPr>
              <a:t>No broker or tool output ever enters the prompt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5367528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10">
                <a:solidFill>
                  <a:srgbClr val="F2685C"/>
                </a:solidFill>
                <a:latin typeface="Consolas"/>
              </a:rPr>
              <a:t>CONTROLLED VOCABULARY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715000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7240" y="5879592"/>
            <a:ext cx="6949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9B6C3"/>
                </a:solidFill>
                <a:latin typeface="Segoe UI"/>
              </a:rPr>
              <a:t>No model available? Arithmetic selection runs instead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8120" y="58795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10">
                <a:solidFill>
                  <a:srgbClr val="3ECF8E"/>
                </a:solidFill>
                <a:latin typeface="Consolas"/>
              </a:rPr>
              <a:t>STILL AUTONOMOUS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6227064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07 / 12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807708"/>
            <a:ext cx="7111822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RISK IS NOT ADVISORY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Eight gates. Any one of them
rejects the trade outright.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97480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E6EDF3"/>
                </a:solidFill>
                <a:latin typeface="Consolas"/>
              </a:rPr>
              <a:t>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410712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B6C3"/>
                </a:solidFill>
                <a:latin typeface="Segoe UI"/>
              </a:rPr>
              <a:t>of equity at risk
in any one spread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2697480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2685C"/>
                </a:solidFill>
                <a:latin typeface="Consolas"/>
              </a:rPr>
              <a:t>−3%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3410712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B6C3"/>
                </a:solidFill>
                <a:latin typeface="Segoe UI"/>
              </a:rPr>
              <a:t>on the day halts
the whole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697480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E6EDF3"/>
                </a:solidFill>
                <a:latin typeface="Consolas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3410712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B6C3"/>
                </a:solidFill>
                <a:latin typeface="Segoe UI"/>
              </a:rPr>
              <a:t>contracts, hard cap
whatever the maths says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97680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ECF8E"/>
                </a:solidFill>
                <a:latin typeface="Consolas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010912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B6C3"/>
                </a:solidFill>
                <a:latin typeface="Segoe UI"/>
              </a:rPr>
              <a:t>naked positions,
structurally impossible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4297680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E6EDF3"/>
                </a:solidFill>
                <a:latin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5010912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B6C3"/>
                </a:solidFill>
                <a:latin typeface="Segoe UI"/>
              </a:rPr>
              <a:t>legs, one atomic order —
both fill or neither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4297680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4DD4C0"/>
                </a:solidFill>
                <a:latin typeface="Consolas"/>
              </a:rPr>
              <a:t>236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5010912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B6C3"/>
                </a:solidFill>
                <a:latin typeface="Segoe UI"/>
              </a:rPr>
              <a:t>tests, most of them
on the gates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08 / 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807708"/>
            <a:ext cx="8127796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IT REFUSES TO TRADE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20 valid spreads. 7 survived.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9456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Segoe UI"/>
              </a:rPr>
              <a:t>One screen, counted at every gate.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20">
                <a:solidFill>
                  <a:srgbClr val="75828F"/>
                </a:solidFill>
                <a:latin typeface="Consolas"/>
              </a:rPr>
              <a:t>UNDERLYING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697480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20">
                <a:solidFill>
                  <a:srgbClr val="75828F"/>
                </a:solidFill>
                <a:latin typeface="Consolas"/>
              </a:rPr>
              <a:t>IMPLIED ÷ REALISED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49240" y="269748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20">
                <a:solidFill>
                  <a:srgbClr val="75828F"/>
                </a:solidFill>
                <a:latin typeface="Consolas"/>
              </a:rPr>
              <a:t>VALID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269748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20">
                <a:solidFill>
                  <a:srgbClr val="75828F"/>
                </a:solidFill>
                <a:latin typeface="Consolas"/>
              </a:rPr>
              <a:t>CLEARED THE 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81528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onsolas"/>
              </a:rPr>
              <a:t>AAPL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3081528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ECF8E"/>
                </a:solidFill>
                <a:latin typeface="Consolas"/>
              </a:rPr>
              <a:t>1.260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3081528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3081528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3ECF8E"/>
                </a:solidFill>
                <a:latin typeface="Segoe UI"/>
              </a:rPr>
              <a:t>2  —  richest premium on the board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447288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593592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onsolas"/>
              </a:rPr>
              <a:t>SPY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5935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0A93B"/>
                </a:solidFill>
                <a:latin typeface="Consolas"/>
              </a:rPr>
              <a:t>1.069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593592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Consola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3593592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9B6C3"/>
                </a:solidFill>
                <a:latin typeface="Segoe U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959352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4105656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onsolas"/>
              </a:rPr>
              <a:t>IWM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4105656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0A93B"/>
                </a:solidFill>
                <a:latin typeface="Consolas"/>
              </a:rPr>
              <a:t>1.067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4105656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Consolas"/>
              </a:rPr>
              <a:t>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4105656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9B6C3"/>
                </a:solidFill>
                <a:latin typeface="Segoe UI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471416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" y="461772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onsolas"/>
              </a:rPr>
              <a:t>QQQ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461772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2685C"/>
                </a:solidFill>
                <a:latin typeface="Consolas"/>
              </a:rPr>
              <a:t>0.894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6177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Consolas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617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2685C"/>
                </a:solidFill>
                <a:latin typeface="Segoe UI"/>
              </a:rPr>
              <a:t>0  —  implied below realised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983480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5449824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A9B6C3"/>
                </a:solidFill>
                <a:latin typeface="Segoe UI"/>
              </a:rPr>
              <a:t>The agent isn't looking for trades. </a:t>
            </a:r>
            <a:r>
              <a:rPr sz="1800" b="1">
                <a:solidFill>
                  <a:srgbClr val="4DD4C0"/>
                </a:solidFill>
                <a:latin typeface="Segoe UI"/>
              </a:rPr>
              <a:t>It's looking for paid risk.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09 / 12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807708"/>
            <a:ext cx="9143771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LEARNING, ON A SHORT LEASH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It can learn. It can't learn its way
around the risk controls.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2606040"/>
            <a:ext cx="4114800" cy="457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3000" y="2724912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E6EDF3"/>
                </a:solidFill>
                <a:latin typeface="Consolas"/>
              </a:rPr>
              <a:t>TRADE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063240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828F"/>
                </a:solidFill>
                <a:latin typeface="Consolas"/>
              </a:rPr>
              <a:t>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3264408"/>
            <a:ext cx="4114800" cy="457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E6EDF3"/>
                </a:solidFill>
                <a:latin typeface="Consolas"/>
              </a:rPr>
              <a:t>JOURNAL EVERY DECISION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721608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828F"/>
                </a:solidFill>
                <a:latin typeface="Consolas"/>
              </a:rP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922776"/>
            <a:ext cx="4114800" cy="457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4041648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E6EDF3"/>
                </a:solidFill>
                <a:latin typeface="Consolas"/>
              </a:rPr>
              <a:t>ANALYSE CLOSED TRADES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379976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828F"/>
                </a:solidFill>
                <a:latin typeface="Consolas"/>
              </a:rP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581144"/>
            <a:ext cx="4114800" cy="457200"/>
          </a:xfrm>
          <a:prstGeom prst="roundRect">
            <a:avLst>
              <a:gd name="adj" fmla="val 6000"/>
            </a:avLst>
          </a:prstGeom>
          <a:solidFill>
            <a:srgbClr val="241B0C"/>
          </a:solidFill>
          <a:ln w="12700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4700016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0A93B"/>
                </a:solidFill>
                <a:latin typeface="Consolas"/>
              </a:rPr>
              <a:t>MIN 5 CLOSED TRADES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038344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828F"/>
                </a:solidFill>
                <a:latin typeface="Consolas"/>
              </a:rP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239512"/>
            <a:ext cx="4114800" cy="457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535838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E6EDF3"/>
                </a:solidFill>
                <a:latin typeface="Consolas"/>
              </a:rPr>
              <a:t>TIGHTEN A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696712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828F"/>
                </a:solidFill>
                <a:latin typeface="Consolas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5897880"/>
            <a:ext cx="4114800" cy="457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43000" y="6016752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E6EDF3"/>
                </a:solidFill>
                <a:latin typeface="Consolas"/>
              </a:rPr>
              <a:t>NEXT SESSION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2651760"/>
            <a:ext cx="50292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400" b="0">
                <a:solidFill>
                  <a:srgbClr val="A9B6C3"/>
                </a:solidFill>
                <a:latin typeface="Segoe UI"/>
              </a:rPr>
              <a:t>Three losses in a row on one underlying, and it stops trading that underlying. A losing delta band gets narrowed.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400" b="1">
                <a:solidFill>
                  <a:srgbClr val="E6EDF3"/>
                </a:solidFill>
                <a:latin typeface="Segoe UI"/>
              </a:rPr>
              <a:t>Every adjustment is clamped against the defaults</a:t>
            </a:r>
            <a:r>
              <a:rPr sz="1400" b="0">
                <a:solidFill>
                  <a:srgbClr val="A9B6C3"/>
                </a:solidFill>
                <a:latin typeface="Segoe UI"/>
              </a:rPr>
              <a:t>, so the loop can only ever make the agent more restrictive.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343400"/>
            <a:ext cx="5029200" cy="169164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6520" y="4526280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30">
                <a:solidFill>
                  <a:srgbClr val="F0A93B"/>
                </a:solidFill>
                <a:latin typeface="Consolas"/>
              </a:rPr>
              <a:t>IT CANNOT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864608"/>
            <a:ext cx="44805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A9B6C3"/>
                </a:solidFill>
                <a:latin typeface="Segoe UI"/>
              </a:rPr>
              <a:t>increase position size
loosen a hard limit
re-enable something it disabled
react to fewer than 5 closed trades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10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807708"/>
            <a:ext cx="10159745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RUNNING, UNATTENDED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It trades on a schedule,
with nothing of mine switched 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97480"/>
            <a:ext cx="603504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400" b="0">
                <a:solidFill>
                  <a:srgbClr val="A9B6C3"/>
                </a:solidFill>
                <a:latin typeface="Segoe UI"/>
              </a:rPr>
              <a:t>A GitHub Actions schedule runs one full cycle roughly every 30 minutes during the US session. </a:t>
            </a:r>
            <a:r>
              <a:rPr sz="1400" b="1">
                <a:solidFill>
                  <a:srgbClr val="E6EDF3"/>
                </a:solidFill>
                <a:latin typeface="Segoe UI"/>
              </a:rPr>
              <a:t>No server, no laptop.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400" b="0">
                <a:solidFill>
                  <a:srgbClr val="A9B6C3"/>
                </a:solidFill>
                <a:latin typeface="Segoe UI"/>
              </a:rPr>
              <a:t>Every cycle reconciles against Alpaca before it does anything, so a restart can't duplicate a position — and every order carries an id the broker will refuse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61772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DD4C0"/>
                </a:solidFill>
                <a:latin typeface="Consolas"/>
              </a:rPr>
              <a:t>chong1120.github.io/Vetoed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983480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Equity curve · screening funnel · implied vs realised · every decision · every veto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2697480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3ECF8E"/>
                </a:solidFill>
                <a:latin typeface="Consolas"/>
              </a:rPr>
              <a:t>236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3319272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9B6C3"/>
                </a:solidFill>
                <a:latin typeface="Segoe UI"/>
              </a:rPr>
              <a:t>tests passing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2697480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E6EDF3"/>
                </a:solidFill>
                <a:latin typeface="Consolas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0" y="3319272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9B6C3"/>
                </a:solidFill>
                <a:latin typeface="Segoe UI"/>
              </a:rPr>
              <a:t>LLM write paths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4160520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E6EDF3"/>
                </a:solidFill>
                <a:latin typeface="Consolas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4782312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9B6C3"/>
                </a:solidFill>
                <a:latin typeface="Segoe UI"/>
              </a:rPr>
              <a:t>risk gates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4160520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4DD4C0"/>
                </a:solidFill>
                <a:latin typeface="Consolas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4782312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9B6C3"/>
                </a:solidFill>
                <a:latin typeface="Segoe UI"/>
              </a:rPr>
              <a:t>decisions journalled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11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807708"/>
            <a:ext cx="11175720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WHAT I AM NOT CLAIMING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The limits, stated before you find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4984" y="2606040"/>
            <a:ext cx="46634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E6EDF3"/>
                </a:solidFill>
                <a:latin typeface="Segoe UI"/>
              </a:rPr>
              <a:t>Quotes are indicative</a:t>
            </a:r>
            <a:r>
              <a:rPr sz="1300" b="0">
                <a:solidFill>
                  <a:srgbClr val="A9B6C3"/>
                </a:solidFill>
                <a:latin typeface="Segoe UI"/>
              </a:rPr>
              <a:t>, not true NBBO.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66160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" y="3566160"/>
            <a:ext cx="46634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E6EDF3"/>
                </a:solidFill>
                <a:latin typeface="Segoe UI"/>
              </a:rPr>
              <a:t>Skew isn't modelled</a:t>
            </a:r>
            <a:r>
              <a:rPr sz="1300" b="0">
                <a:solidFill>
                  <a:srgbClr val="A9B6C3"/>
                </a:solidFill>
                <a:latin typeface="Segoe UI"/>
              </a:rPr>
              <a:t> — both legs use one volatility.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26280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" y="4526280"/>
            <a:ext cx="46634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E6EDF3"/>
                </a:solidFill>
                <a:latin typeface="Segoe UI"/>
              </a:rPr>
              <a:t>20-day realised vol is an estimator</a:t>
            </a:r>
            <a:r>
              <a:rPr sz="1300" b="0">
                <a:solidFill>
                  <a:srgbClr val="A9B6C3"/>
                </a:solidFill>
                <a:latin typeface="Segoe UI"/>
              </a:rPr>
              <a:t>, not a forecast of volatility to expiry.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606040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9944" y="2606040"/>
            <a:ext cx="46634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E6EDF3"/>
                </a:solidFill>
                <a:latin typeface="Segoe UI"/>
              </a:rPr>
              <a:t>Four correlated tickers</a:t>
            </a:r>
            <a:r>
              <a:rPr sz="1300" b="0">
                <a:solidFill>
                  <a:srgbClr val="A9B6C3"/>
                </a:solidFill>
                <a:latin typeface="Segoe UI"/>
              </a:rPr>
              <a:t> is not diversification.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3566160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3566160"/>
            <a:ext cx="46634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E6EDF3"/>
                </a:solidFill>
                <a:latin typeface="Segoe UI"/>
              </a:rPr>
              <a:t>Exit thresholds are unvalidated</a:t>
            </a:r>
            <a:r>
              <a:rPr sz="1300" b="0">
                <a:solidFill>
                  <a:srgbClr val="A9B6C3"/>
                </a:solidFill>
                <a:latin typeface="Segoe U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526280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4526280"/>
            <a:ext cx="46634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E6EDF3"/>
                </a:solidFill>
                <a:latin typeface="Segoe UI"/>
              </a:rPr>
              <a:t>A contest week proves nothing</a:t>
            </a:r>
            <a:r>
              <a:rPr sz="1300" b="0">
                <a:solidFill>
                  <a:srgbClr val="A9B6C3"/>
                </a:solidFill>
                <a:latin typeface="Segoe UI"/>
              </a:rPr>
              <a:t> about profitability. The literature motivates the idea; it does not validate this system.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4DD4C0"/>
                </a:solidFill>
                <a:latin typeface="Segoe UI"/>
              </a:rPr>
              <a:t>An agent that's most useful when it says no.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1052</Words>
  <Application>Microsoft Office PowerPoint</Application>
  <PresentationFormat>Widescreen</PresentationFormat>
  <Paragraphs>186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CHONG MUN HEI</cp:lastModifiedBy>
  <cp:revision>2</cp:revision>
  <dcterms:created xsi:type="dcterms:W3CDTF">2013-01-27T09:14:16Z</dcterms:created>
  <dcterms:modified xsi:type="dcterms:W3CDTF">2026-08-31T13:02:47Z</dcterms:modified>
  <cp:category/>
</cp:coreProperties>
</file>