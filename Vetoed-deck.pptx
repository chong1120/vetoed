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96596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60">
                <a:solidFill>
                  <a:srgbClr val="4DD4C0"/>
                </a:solidFill>
                <a:latin typeface="Consolas"/>
              </a:rPr>
              <a:t>ALPACA AI TRADING AGENTS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395728"/>
            <a:ext cx="1063721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E6EDF3"/>
                </a:solidFill>
                <a:latin typeface="Segoe UI"/>
              </a:rPr>
              <a:t>Vetoed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11880"/>
            <a:ext cx="8412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A9B6C3"/>
                </a:solidFill>
                <a:latin typeface="Segoe UI"/>
              </a:rPr>
              <a:t>An autonomous options agent where </a:t>
            </a:r>
            <a:r>
              <a:rPr sz="2200" b="1">
                <a:solidFill>
                  <a:srgbClr val="E6EDF3"/>
                </a:solidFill>
                <a:latin typeface="Segoe UI"/>
              </a:rPr>
              <a:t>the AI is the least-trusted component.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80060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5828F"/>
                </a:solidFill>
                <a:latin typeface="Consolas"/>
              </a:rPr>
              <a:t>chong1120.github.io/Vetoed   ·   github.com/Chong1120/Vetoed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Most AI trading agents let the model decide.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87168"/>
            <a:ext cx="58521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600" b="0">
                <a:solidFill>
                  <a:srgbClr val="A9B6C3"/>
                </a:solidFill>
                <a:latin typeface="Segoe UI"/>
              </a:rPr>
              <a:t>An LLM that can choose the trade, size the position, and send the order has </a:t>
            </a:r>
            <a:r>
              <a:rPr sz="1600" b="1">
                <a:solidFill>
                  <a:srgbClr val="E6EDF3"/>
                </a:solidFill>
                <a:latin typeface="Segoe UI"/>
              </a:rPr>
              <a:t>unbounded downside</a:t>
            </a:r>
            <a:r>
              <a:rPr sz="1600" b="0">
                <a:solidFill>
                  <a:srgbClr val="A9B6C3"/>
                </a:solidFill>
                <a:latin typeface="Segoe UI"/>
              </a:rPr>
              <a:t> the moment it hallucinates a strike or misreads a quote.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600" b="0">
                <a:solidFill>
                  <a:srgbClr val="A9B6C3"/>
                </a:solidFill>
                <a:latin typeface="Segoe UI"/>
              </a:rPr>
              <a:t>You cannot unit-test a language model. You can unit-test the code that decides whether to obey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78040" y="2377440"/>
            <a:ext cx="4206240" cy="22860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52360" y="2606040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VETOED'S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2971800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4DD4C0"/>
                </a:solidFill>
                <a:latin typeface="Consolas"/>
              </a:rPr>
              <a:t>The model picks an index
from a pre-vetted list.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3886200"/>
            <a:ext cx="365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That is its entire authority. Everything else is deterministic, tested code that can overrule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02 / 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807708"/>
            <a:ext cx="2031949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THE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Sell insurance. Don't predict direction.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23160"/>
            <a:ext cx="96926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700" b="0">
                <a:solidFill>
                  <a:srgbClr val="A9B6C3"/>
                </a:solidFill>
                <a:latin typeface="Segoe UI"/>
              </a:rPr>
              <a:t>The agent sells </a:t>
            </a:r>
            <a:r>
              <a:rPr sz="1700" b="1">
                <a:solidFill>
                  <a:srgbClr val="E6EDF3"/>
                </a:solidFill>
                <a:latin typeface="Segoe UI"/>
              </a:rPr>
              <a:t>defined-risk vertical credit spreads</a:t>
            </a:r>
            <a:r>
              <a:rPr sz="1700" b="0">
                <a:solidFill>
                  <a:srgbClr val="A9B6C3"/>
                </a:solidFill>
                <a:latin typeface="Segoe UI"/>
              </a:rPr>
              <a:t> — short one option, long another further out. The long leg caps the loss, so the worst case is known before the order is sent.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700" b="0">
                <a:solidFill>
                  <a:srgbClr val="A9B6C3"/>
                </a:solidFill>
                <a:latin typeface="Segoe UI"/>
              </a:rPr>
              <a:t>It profits because risk-neutral probabilities systematically </a:t>
            </a:r>
            <a:r>
              <a:rPr sz="1700" b="1">
                <a:solidFill>
                  <a:srgbClr val="E6EDF3"/>
                </a:solidFill>
                <a:latin typeface="Segoe UI"/>
              </a:rPr>
              <a:t>overstate</a:t>
            </a:r>
            <a:r>
              <a:rPr sz="1700" b="0">
                <a:solidFill>
                  <a:srgbClr val="A9B6C3"/>
                </a:solidFill>
                <a:latin typeface="Segoe UI"/>
              </a:rPr>
              <a:t> the real-world chance of big moves. Option buyers overpay for protection. That gap is the </a:t>
            </a:r>
            <a:r>
              <a:rPr sz="1700" b="1">
                <a:solidFill>
                  <a:srgbClr val="4DD4C0"/>
                </a:solidFill>
                <a:latin typeface="Segoe UI"/>
              </a:rPr>
              <a:t>volatility risk premium</a:t>
            </a:r>
            <a:r>
              <a:rPr sz="1700" b="0">
                <a:solidFill>
                  <a:srgbClr val="A9B6C3"/>
                </a:solidFill>
                <a:latin typeface="Segoe U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0292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Bakshi &amp; Kapadia (2003), RFS 16(2)  ·  Carr &amp; Wu (2009), RFS 22(3)  ·  CBOE PUT index, Jun 1986–Dec 2018: 9.95% vs 14.93% volatility at near-identical return.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03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7708"/>
            <a:ext cx="3047923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WHY MOST TOOLS MEASURE NOTHING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Ranking by delta-derived EV is
mathematically empty.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80360"/>
            <a:ext cx="56692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600" b="0">
                <a:solidFill>
                  <a:srgbClr val="A9B6C3"/>
                </a:solidFill>
                <a:latin typeface="Segoe UI"/>
              </a:rPr>
              <a:t>Delta is the </a:t>
            </a:r>
            <a:r>
              <a:rPr sz="1600" b="1">
                <a:solidFill>
                  <a:srgbClr val="E6EDF3"/>
                </a:solidFill>
                <a:latin typeface="Segoe UI"/>
              </a:rPr>
              <a:t>risk-neutral</a:t>
            </a:r>
            <a:r>
              <a:rPr sz="1600" b="0">
                <a:solidFill>
                  <a:srgbClr val="A9B6C3"/>
                </a:solidFill>
                <a:latin typeface="Segoe UI"/>
              </a:rPr>
              <a:t> probability of finishing in the money. Under risk-neutral pricing, every fairly-priced option trade has an expected value of exactly </a:t>
            </a:r>
            <a:r>
              <a:rPr sz="1600" b="1">
                <a:solidFill>
                  <a:srgbClr val="E6EDF3"/>
                </a:solidFill>
                <a:latin typeface="Segoe UI"/>
              </a:rPr>
              <a:t>zero</a:t>
            </a:r>
            <a:r>
              <a:rPr sz="1600" b="0">
                <a:solidFill>
                  <a:srgbClr val="A9B6C3"/>
                </a:solidFill>
                <a:latin typeface="Segoe UI"/>
              </a:rPr>
              <a:t>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600" b="0">
                <a:solidFill>
                  <a:srgbClr val="A9B6C3"/>
                </a:solidFill>
                <a:latin typeface="Segoe UI"/>
              </a:rPr>
              <a:t>That is a no-arbitrage identity, not an opinion. So a screener ranking on delta-derived EV is ranking </a:t>
            </a:r>
            <a:r>
              <a:rPr sz="1600" b="1">
                <a:solidFill>
                  <a:srgbClr val="F2685C"/>
                </a:solidFill>
                <a:latin typeface="Segoe UI"/>
              </a:rPr>
              <a:t>quote noise</a:t>
            </a:r>
            <a:r>
              <a:rPr sz="1600" b="0">
                <a:solidFill>
                  <a:srgbClr val="A9B6C3"/>
                </a:solidFill>
                <a:latin typeface="Segoe UI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6600" y="2788920"/>
            <a:ext cx="4297680" cy="196596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06640" y="310896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DD4C0"/>
                </a:solidFill>
                <a:latin typeface="Consolas"/>
              </a:rPr>
              <a:t>Under Q:  E[payoff] =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361188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75828F"/>
                </a:solidFill>
                <a:latin typeface="Consolas"/>
              </a:rPr>
              <a:t>for every fairly-priced
option trade, always.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42062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2685C"/>
                </a:solidFill>
                <a:latin typeface="Consolas"/>
              </a:rPr>
              <a:t>No edge to find there.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04 / 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807708"/>
            <a:ext cx="4063898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THE 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One model. Two volatilities.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86000"/>
            <a:ext cx="10058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700" b="0">
                <a:solidFill>
                  <a:srgbClr val="A9B6C3"/>
                </a:solidFill>
                <a:latin typeface="Segoe UI"/>
              </a:rPr>
              <a:t>Price the same spread twice through the same lognormal. Change only the volatility fed into it. The difference is the premium — not an artefact of comparing two different formulas.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00400"/>
            <a:ext cx="10637215" cy="16002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43000" y="342900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1">
                <a:solidFill>
                  <a:srgbClr val="4DD4C0"/>
                </a:solidFill>
                <a:latin typeface="Consolas"/>
              </a:rPr>
              <a:t>ev_rw</a:t>
            </a:r>
            <a:r>
              <a:rPr sz="1500" b="0">
                <a:solidFill>
                  <a:srgbClr val="A9B6C3"/>
                </a:solidFill>
                <a:latin typeface="Consolas"/>
              </a:rPr>
              <a:t>     = spread priced at 20-day REALISED volatility
</a:t>
            </a:r>
            <a:r>
              <a:rPr sz="1500" b="1">
                <a:solidFill>
                  <a:srgbClr val="4DD4C0"/>
                </a:solidFill>
                <a:latin typeface="Consolas"/>
              </a:rPr>
              <a:t>ev_rn</a:t>
            </a:r>
            <a:r>
              <a:rPr sz="1500" b="0">
                <a:solidFill>
                  <a:srgbClr val="A9B6C3"/>
                </a:solidFill>
                <a:latin typeface="Consolas"/>
              </a:rPr>
              <a:t>     = spread priced at the market's IMPLIED volatility
</a:t>
            </a:r>
            <a:r>
              <a:rPr sz="1500" b="1">
                <a:solidFill>
                  <a:srgbClr val="E6EDF3"/>
                </a:solidFill>
                <a:latin typeface="Consolas"/>
              </a:rPr>
              <a:t>vrp_edge = ev_rw − ev_rn</a:t>
            </a:r>
            <a:r>
              <a:rPr sz="1500" b="0">
                <a:solidFill>
                  <a:srgbClr val="75828F"/>
                </a:solidFill>
                <a:latin typeface="Consolas"/>
              </a:rPr>
              <a:t>     ← the premium, in dollars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074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A9B6C3"/>
                </a:solidFill>
                <a:latin typeface="Segoe UI"/>
              </a:rPr>
              <a:t>It must clear </a:t>
            </a:r>
            <a:r>
              <a:rPr sz="1500" b="1">
                <a:solidFill>
                  <a:srgbClr val="E6EDF3"/>
                </a:solidFill>
                <a:latin typeface="Segoe UI"/>
              </a:rPr>
              <a:t>$2.00</a:t>
            </a:r>
            <a:r>
              <a:rPr sz="1500" b="0">
                <a:solidFill>
                  <a:srgbClr val="A9B6C3"/>
                </a:solidFill>
                <a:latin typeface="Segoe UI"/>
              </a:rPr>
              <a:t> or the spread is discarded, and the shortlist ranks on </a:t>
            </a:r>
            <a:r>
              <a:rPr sz="1500" b="0">
                <a:solidFill>
                  <a:srgbClr val="4DD4C0"/>
                </a:solidFill>
                <a:latin typeface="Consolas"/>
              </a:rPr>
              <a:t>vrp_edge / max_loss</a:t>
            </a:r>
            <a:r>
              <a:rPr sz="1500" b="0">
                <a:solidFill>
                  <a:srgbClr val="A9B6C3"/>
                </a:solidFill>
                <a:latin typeface="Segoe UI"/>
              </a:rPr>
              <a:t> — premium per dollar actually at risk.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05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07708"/>
            <a:ext cx="5079872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PROOF THE MEASUREMENT IS HONEST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I caught my own agent lying.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95728"/>
            <a:ext cx="59436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500" b="0">
                <a:solidFill>
                  <a:srgbClr val="A9B6C3"/>
                </a:solidFill>
                <a:latin typeface="Segoe UI"/>
              </a:rPr>
              <a:t>The first build computed </a:t>
            </a:r>
            <a:r>
              <a:rPr sz="1500" b="0">
                <a:solidFill>
                  <a:srgbClr val="E6EDF3"/>
                </a:solidFill>
                <a:latin typeface="Consolas"/>
              </a:rPr>
              <a:t>ev_rn</a:t>
            </a:r>
            <a:r>
              <a:rPr sz="1500" b="0">
                <a:solidFill>
                  <a:srgbClr val="A9B6C3"/>
                </a:solidFill>
                <a:latin typeface="Segoe UI"/>
              </a:rPr>
              <a:t> from </a:t>
            </a:r>
            <a:r>
              <a:rPr sz="1500" b="1">
                <a:solidFill>
                  <a:srgbClr val="E6EDF3"/>
                </a:solidFill>
                <a:latin typeface="Segoe UI"/>
              </a:rPr>
              <a:t>delta</a:t>
            </a:r>
            <a:r>
              <a:rPr sz="1500" b="0">
                <a:solidFill>
                  <a:srgbClr val="A9B6C3"/>
                </a:solidFill>
                <a:latin typeface="Segoe UI"/>
              </a:rPr>
              <a:t> and </a:t>
            </a:r>
            <a:r>
              <a:rPr sz="1500" b="0">
                <a:solidFill>
                  <a:srgbClr val="E6EDF3"/>
                </a:solidFill>
                <a:latin typeface="Consolas"/>
              </a:rPr>
              <a:t>ev_rw</a:t>
            </a:r>
            <a:r>
              <a:rPr sz="1500" b="0">
                <a:solidFill>
                  <a:srgbClr val="A9B6C3"/>
                </a:solidFill>
                <a:latin typeface="Segoe UI"/>
              </a:rPr>
              <a:t> from a lognormal. Those disagree even at identical volatility.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500" b="0">
                <a:solidFill>
                  <a:srgbClr val="A9B6C3"/>
                </a:solidFill>
                <a:latin typeface="Segoe UI"/>
              </a:rPr>
              <a:t>The journal proved it. IWM at implied 14.84% vs realised 14.58% — a ratio of 1.018, so </a:t>
            </a:r>
            <a:r>
              <a:rPr sz="1500" b="1">
                <a:solidFill>
                  <a:srgbClr val="E6EDF3"/>
                </a:solidFill>
                <a:latin typeface="Segoe UI"/>
              </a:rPr>
              <a:t>no premium existed</a:t>
            </a:r>
            <a:r>
              <a:rPr sz="1500" b="0">
                <a:solidFill>
                  <a:srgbClr val="A9B6C3"/>
                </a:solidFill>
                <a:latin typeface="Segoe UI"/>
              </a:rPr>
              <a:t>. It reported $2.75 anyway.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500" b="1">
                <a:solidFill>
                  <a:srgbClr val="E6EDF3"/>
                </a:solidFill>
                <a:latin typeface="Segoe UI"/>
              </a:rPr>
              <a:t>86% of that was model mismatch.</a:t>
            </a:r>
            <a:r>
              <a:rPr sz="1500" b="0">
                <a:solidFill>
                  <a:srgbClr val="A9B6C3"/>
                </a:solidFill>
                <a:latin typeface="Segoe UI"/>
              </a:rPr>
              <a:t> Both sides now use one model, and nine tests pin the invariant.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69480" y="2331720"/>
            <a:ext cx="4114800" cy="141732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88936" y="2551176"/>
            <a:ext cx="36758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BEFORE — DELTA VS LOGNORMAL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8936" y="2825496"/>
            <a:ext cx="36758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2685C"/>
                </a:solidFill>
                <a:latin typeface="Consolas"/>
              </a:rPr>
              <a:t>+$2.75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88936" y="3054096"/>
            <a:ext cx="3675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reported on a trade with no premium on offer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69480" y="3913632"/>
            <a:ext cx="4114800" cy="16002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88936" y="4133088"/>
            <a:ext cx="36758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AFTER — ONE MODEL, VOL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8936" y="4407408"/>
            <a:ext cx="36758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3ECF8E"/>
                </a:solidFill>
                <a:latin typeface="Consolas"/>
              </a:rPr>
              <a:t>+$0.34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8936" y="4818888"/>
            <a:ext cx="3675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honest, and below the $2.00 gate — so it is not taken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06 / 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807708"/>
            <a:ext cx="6095847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SEPARATION OF POWERS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The model proposes. Deterministic code disposes.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395728"/>
            <a:ext cx="3108960" cy="123444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260604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E6EDF3"/>
                </a:solidFill>
                <a:latin typeface="Consolas"/>
              </a:rPr>
              <a:t>screener.py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97180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what is VALID
pure arithmetic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86200" y="2834640"/>
            <a:ext cx="685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75828F"/>
                </a:solidFill>
                <a:latin typeface="Consolas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395728"/>
            <a:ext cx="3108960" cy="1234440"/>
          </a:xfrm>
          <a:prstGeom prst="roundRect">
            <a:avLst>
              <a:gd name="adj" fmla="val 6000"/>
            </a:avLst>
          </a:prstGeom>
          <a:solidFill>
            <a:srgbClr val="241B0C"/>
          </a:solidFill>
          <a:ln w="12700">
            <a:solidFill>
              <a:srgbClr val="F0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72000" y="260604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0A93B"/>
                </a:solidFill>
                <a:latin typeface="Consolas"/>
              </a:rPr>
              <a:t>brain.py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97180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what is GOOD
the only LLM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834640"/>
            <a:ext cx="685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75828F"/>
                </a:solidFill>
                <a:latin typeface="Consola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395728"/>
            <a:ext cx="3108960" cy="123444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66760" y="260604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E6EDF3"/>
                </a:solidFill>
                <a:latin typeface="Consolas"/>
              </a:rPr>
              <a:t>risk.py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97180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what is ALLOWED
8 hard gates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77639"/>
            <a:ext cx="6766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9B6C3"/>
                </a:solidFill>
                <a:latin typeface="Segoe UI"/>
              </a:rPr>
              <a:t>Echoed legs are compared to the real candidate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3977639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F2685C"/>
                </a:solidFill>
                <a:latin typeface="Consolas"/>
              </a:rPr>
              <a:t>HALLUCINATION → NO-TRADE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361687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544567"/>
            <a:ext cx="6766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9B6C3"/>
                </a:solidFill>
                <a:latin typeface="Segoe UI"/>
              </a:rPr>
              <a:t>The model returns contracts, and it is discarded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4544567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F2685C"/>
                </a:solidFill>
                <a:latin typeface="Consolas"/>
              </a:rPr>
              <a:t>CANNOT SIZE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28615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11495"/>
            <a:ext cx="6766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9B6C3"/>
                </a:solidFill>
                <a:latin typeface="Segoe UI"/>
              </a:rPr>
              <a:t>No tool output ever enters the prompt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5111495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F2685C"/>
                </a:solidFill>
                <a:latin typeface="Consolas"/>
              </a:rPr>
              <a:t>NO INJECTION SURFACE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495543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678423"/>
            <a:ext cx="6766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9B6C3"/>
                </a:solidFill>
                <a:latin typeface="Segoe UI"/>
              </a:rPr>
              <a:t>No API key? Deterministic selection runs instead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5678423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ECF8E"/>
                </a:solidFill>
                <a:latin typeface="Consolas"/>
              </a:rPr>
              <a:t>STILL AUTONOMOUS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6062471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07 /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807708"/>
            <a:ext cx="7111822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RISK IS NOT ADVISORY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Eight gates. Any veto rejects outright.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9572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" y="2395728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E6EDF3"/>
                </a:solidFill>
                <a:latin typeface="Segoe UI"/>
              </a:rPr>
              <a:t>Never naked</a:t>
            </a:r>
            <a:r>
              <a:rPr sz="1400" b="0">
                <a:solidFill>
                  <a:srgbClr val="A9B6C3"/>
                </a:solidFill>
                <a:latin typeface="Segoe UI"/>
              </a:rPr>
              <a:t> — enforced three times: the screener only builds pairs, a gate proves the long leg caps the loss, and both legs move as one atomic mleg order.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28416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3328416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E6EDF3"/>
                </a:solidFill>
                <a:latin typeface="Segoe UI"/>
              </a:rPr>
              <a:t>Loss always capped</a:t>
            </a:r>
            <a:r>
              <a:rPr sz="1400" b="0">
                <a:solidFill>
                  <a:srgbClr val="A9B6C3"/>
                </a:solidFill>
                <a:latin typeface="Segoe UI"/>
              </a:rPr>
              <a:t> — reconciled against width×100 − credit×100.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61104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4261104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E6EDF3"/>
                </a:solidFill>
                <a:latin typeface="Segoe UI"/>
              </a:rPr>
              <a:t>The LLM cannot size</a:t>
            </a:r>
            <a:r>
              <a:rPr sz="1400" b="0">
                <a:solidFill>
                  <a:srgbClr val="A9B6C3"/>
                </a:solidFill>
                <a:latin typeface="Segoe UI"/>
              </a:rPr>
              <a:t> — sizing is the minimum of four constraints and a hard 25-contract cap.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93792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5193792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E6EDF3"/>
                </a:solidFill>
                <a:latin typeface="Segoe UI"/>
              </a:rPr>
              <a:t>Guardrails only ever restrict</a:t>
            </a:r>
            <a:r>
              <a:rPr sz="1400" b="0">
                <a:solidFill>
                  <a:srgbClr val="A9B6C3"/>
                </a:solidFill>
                <a:latin typeface="Segoe UI"/>
              </a:rPr>
              <a:t> — clamped structurally, never by convention.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2331720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88936" y="2551176"/>
            <a:ext cx="36758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PER 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8936" y="2825496"/>
            <a:ext cx="36758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6EDF3"/>
                </a:solidFill>
                <a:latin typeface="Consolas"/>
              </a:rPr>
              <a:t>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3429000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88936" y="3648456"/>
            <a:ext cx="36758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DAILY LOSS STOP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88936" y="3922776"/>
            <a:ext cx="36758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2685C"/>
                </a:solidFill>
                <a:latin typeface="Consolas"/>
              </a:rPr>
              <a:t>−3%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4526280"/>
            <a:ext cx="4114800" cy="123444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488936" y="4745736"/>
            <a:ext cx="36758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EXITS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936" y="5020056"/>
            <a:ext cx="36758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EDF3"/>
                </a:solidFill>
                <a:latin typeface="Consolas"/>
              </a:rPr>
              <a:t>+50% / −2× / δ×2 / 1DTE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88936" y="5065776"/>
            <a:ext cx="3675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the stop fires at 44% of max loss, not 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08 / 12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807708"/>
            <a:ext cx="8127796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IT REFUSES TO TRADE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17 valid spreads. 6 survived.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128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A9B6C3"/>
                </a:solidFill>
                <a:latin typeface="Segoe UI"/>
              </a:rPr>
              <a:t>One live screen of the universe. The edge tracks implied-vs-realised exactly as the theory predicts.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889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30">
                <a:solidFill>
                  <a:srgbClr val="75828F"/>
                </a:solidFill>
                <a:latin typeface="Consolas"/>
              </a:rPr>
              <a:t>UNDERLYING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8920" y="27889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30">
                <a:solidFill>
                  <a:srgbClr val="75828F"/>
                </a:solidFill>
                <a:latin typeface="Consolas"/>
              </a:rPr>
              <a:t>IMPLIED / REALISED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78892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30">
                <a:solidFill>
                  <a:srgbClr val="75828F"/>
                </a:solidFill>
                <a:latin typeface="Consolas"/>
              </a:rPr>
              <a:t>OUTCOME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172968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EDF3"/>
                </a:solidFill>
                <a:latin typeface="Consolas"/>
              </a:rPr>
              <a:t>AAPL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3172968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ECF8E"/>
                </a:solidFill>
                <a:latin typeface="Consolas"/>
              </a:rPr>
              <a:t>1.26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3172968"/>
            <a:ext cx="5852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A9B6C3"/>
                </a:solidFill>
                <a:latin typeface="Segoe UI"/>
              </a:rPr>
              <a:t>top two candidates — +$41.32, +$32.30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538728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70332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EDF3"/>
                </a:solidFill>
                <a:latin typeface="Consolas"/>
              </a:rPr>
              <a:t>SPY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37033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0A93B"/>
                </a:solidFill>
                <a:latin typeface="Consolas"/>
              </a:rPr>
              <a:t>1.069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3703320"/>
            <a:ext cx="5852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A9B6C3"/>
                </a:solidFill>
                <a:latin typeface="Segoe UI"/>
              </a:rPr>
              <a:t>three candidates, +$4.28 to +$5.43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069080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233672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EDF3"/>
                </a:solidFill>
                <a:latin typeface="Consolas"/>
              </a:rPr>
              <a:t>IWM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4233672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0A93B"/>
                </a:solidFill>
                <a:latin typeface="Consolas"/>
              </a:rPr>
              <a:t>1.067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32120" y="4233672"/>
            <a:ext cx="5852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A9B6C3"/>
                </a:solidFill>
                <a:latin typeface="Segoe UI"/>
              </a:rPr>
              <a:t>one at +$10.11; three cut at ~$0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599432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764024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EDF3"/>
                </a:solidFill>
                <a:latin typeface="Consolas"/>
              </a:rPr>
              <a:t>QQQ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476402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2685C"/>
                </a:solidFill>
                <a:latin typeface="Consolas"/>
              </a:rPr>
              <a:t>0.894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32120" y="4764024"/>
            <a:ext cx="5852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2685C"/>
                </a:solidFill>
                <a:latin typeface="Segoe UI"/>
              </a:rPr>
              <a:t>ZERO CANDIDATES — implied below realised, it sits out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129784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22976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EDF3"/>
                </a:solidFill>
                <a:latin typeface="Segoe UI"/>
              </a:rPr>
              <a:t>QQQ sitting out is the point.</a:t>
            </a:r>
            <a:r>
              <a:rPr sz="1500" b="0">
                <a:solidFill>
                  <a:srgbClr val="A9B6C3"/>
                </a:solidFill>
                <a:latin typeface="Segoe UI"/>
              </a:rPr>
              <a:t> The agent is not looking for trades. It is looking for paid risk.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09 / 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807708"/>
            <a:ext cx="9143771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LIVE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Every decision is auditable,
including the refusals.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80360"/>
            <a:ext cx="58521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500" b="0">
                <a:solidFill>
                  <a:srgbClr val="A9B6C3"/>
                </a:solidFill>
                <a:latin typeface="Segoe UI"/>
              </a:rPr>
              <a:t>The dashboard renders the SQLite journal: the screening funnel, implied-vs-realised per underlying, the measured edge on every candidate, and </a:t>
            </a:r>
            <a:r>
              <a:rPr sz="1500" b="1">
                <a:solidFill>
                  <a:srgbClr val="E6EDF3"/>
                </a:solidFill>
                <a:latin typeface="Segoe UI"/>
              </a:rPr>
              <a:t>every trade the risk gates vetoed</a:t>
            </a:r>
            <a:r>
              <a:rPr sz="1500" b="0">
                <a:solidFill>
                  <a:srgbClr val="A9B6C3"/>
                </a:solidFill>
                <a:latin typeface="Segoe UI"/>
              </a:rPr>
              <a:t>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500" b="0">
                <a:solidFill>
                  <a:srgbClr val="A9B6C3"/>
                </a:solidFill>
                <a:latin typeface="Segoe UI"/>
              </a:rPr>
              <a:t>It is static and read-only — no server to sleep, and no route that could place an order even if it were compromised.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93776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DD4C0"/>
                </a:solidFill>
                <a:latin typeface="Consolas"/>
              </a:rPr>
              <a:t>chong1120.github.io/Vetoed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69480" y="2606040"/>
            <a:ext cx="1965960" cy="123444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488936" y="2825496"/>
            <a:ext cx="1527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88936" y="3099816"/>
            <a:ext cx="15270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3ECF8E"/>
                </a:solidFill>
                <a:latin typeface="Consolas"/>
              </a:rPr>
              <a:t>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8936" y="3145536"/>
            <a:ext cx="15270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passing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2606040"/>
            <a:ext cx="1965960" cy="123444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37776" y="2825496"/>
            <a:ext cx="1527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LLM WRITES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37776" y="3099816"/>
            <a:ext cx="15270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onsolas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37776" y="3145536"/>
            <a:ext cx="15270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to the broker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9480" y="4023360"/>
            <a:ext cx="1965960" cy="123444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488936" y="4242816"/>
            <a:ext cx="1527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RISK GATES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88936" y="4517136"/>
            <a:ext cx="15270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onsolas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88936" y="4562856"/>
            <a:ext cx="15270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any one vetoes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18320" y="4023360"/>
            <a:ext cx="1965960" cy="123444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37776" y="4242816"/>
            <a:ext cx="1527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NAKED POSITIONS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37776" y="4517136"/>
            <a:ext cx="15270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3ECF8E"/>
                </a:solidFill>
                <a:latin typeface="Consolas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37776" y="4562856"/>
            <a:ext cx="15270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structurally impossible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10 / 12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807708"/>
            <a:ext cx="10159745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WHAT I AM NOT CLAIMING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The limits, stated before you find them.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9572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395728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E6EDF3"/>
                </a:solidFill>
                <a:latin typeface="Segoe UI"/>
              </a:rPr>
              <a:t>Quotes are indicative, not NBBO.</a:t>
            </a:r>
            <a:r>
              <a:rPr sz="1500" b="0">
                <a:solidFill>
                  <a:srgbClr val="A9B6C3"/>
                </a:solidFill>
                <a:latin typeface="Segoe UI"/>
              </a:rPr>
              <a:t> No OPRA agreement, so the credit — and every number downstream — comes from a derived quote.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10128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E6EDF3"/>
                </a:solidFill>
                <a:latin typeface="Segoe UI"/>
              </a:rPr>
              <a:t>Four correlated tickers is not diversification.</a:t>
            </a:r>
            <a:r>
              <a:rPr sz="1500" b="0">
                <a:solidFill>
                  <a:srgbClr val="A9B6C3"/>
                </a:solidFill>
                <a:latin typeface="Segoe UI"/>
              </a:rPr>
              <a:t> It spreads across names, not risk factors.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2452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224528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E6EDF3"/>
                </a:solidFill>
                <a:latin typeface="Segoe UI"/>
              </a:rPr>
              <a:t>A 20-day vol estimate carries ~16% standard error.</a:t>
            </a:r>
            <a:r>
              <a:rPr sz="1500" b="0">
                <a:solidFill>
                  <a:srgbClr val="A9B6C3"/>
                </a:solidFill>
                <a:latin typeface="Segoe UI"/>
              </a:rPr>
              <a:t> Gating on the premium reduces the resulting selection bias. It does not remove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3892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138928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E6EDF3"/>
                </a:solidFill>
                <a:latin typeface="Segoe UI"/>
              </a:rPr>
              <a:t>A contest window is statistical noise.</a:t>
            </a:r>
            <a:r>
              <a:rPr sz="1500" b="0">
                <a:solidFill>
                  <a:srgbClr val="A9B6C3"/>
                </a:solidFill>
                <a:latin typeface="Segoe UI"/>
              </a:rPr>
              <a:t> Ten to twenty trades cannot separate a 60% win rate from 70%. That is exactly why the circuit breaker refuses to react to fewer than five closed trades, and can only ever tighten.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11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807708"/>
            <a:ext cx="11175720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60">
                <a:solidFill>
                  <a:srgbClr val="4DD4C0"/>
                </a:solidFill>
                <a:latin typeface="Consolas"/>
              </a:rPr>
              <a:t>VETOED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10637215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E6EDF3"/>
                </a:solidFill>
                <a:latin typeface="Segoe UI"/>
              </a:rPr>
              <a:t>An agent that is most useful
when it says no.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434840"/>
            <a:ext cx="1063721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400" b="1">
                <a:solidFill>
                  <a:srgbClr val="4DD4C0"/>
                </a:solidFill>
                <a:latin typeface="Consolas"/>
              </a:rPr>
              <a:t>chong1120.github.io/Vetoed
</a:t>
            </a:r>
            <a:r>
              <a:rPr sz="1400" b="0">
                <a:solidFill>
                  <a:srgbClr val="A9B6C3"/>
                </a:solidFill>
                <a:latin typeface="Consolas"/>
              </a:rPr>
              <a:t>github.com/Chong1120/Vetoed
</a:t>
            </a:r>
            <a:r>
              <a:rPr sz="1400" b="0">
                <a:solidFill>
                  <a:srgbClr val="75828F"/>
                </a:solidFill>
                <a:latin typeface="Consolas"/>
              </a:rPr>
              <a:t>MIT  ·  Alpaca paper trading  ·  77 tests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